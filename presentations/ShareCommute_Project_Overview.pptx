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06b5c5f0a840fe" /><Relationship Type="http://schemas.openxmlformats.org/officeDocument/2006/relationships/extended-properties" Target="/docProps/app.xml" Id="R6fbef6739abf43c5" /><Relationship Type="http://schemas.openxmlformats.org/officeDocument/2006/relationships/officeDocument" Target="/ppt/presentation.xml" Id="R14e00b390f2a4aa3" /></Relationships>
</file>

<file path=ppt/presentation.xml><?xml version="1.0" encoding="utf-8"?>
<p:presentation xmlns:p="http://schemas.openxmlformats.org/presentationml/2006/main">
  <p:sldMasterIdLst>
    <p:sldMasterId xmlns:r="http://schemas.openxmlformats.org/officeDocument/2006/relationships" id="2147483648" r:id="Rc69b11bd278f4898"/>
  </p:sldMasterIdLst>
  <p:notesMasterIdLst>
    <p:notesMasterId xmlns:r="http://schemas.openxmlformats.org/officeDocument/2006/relationships" r:id="Rf24c02dfd27143b1"/>
  </p:notesMasterIdLst>
  <p:sldIdLst>
    <p:sldId xmlns:r="http://schemas.openxmlformats.org/officeDocument/2006/relationships" id="256" r:id="Rb45b3e46800c4f7d"/>
    <p:sldId xmlns:r="http://schemas.openxmlformats.org/officeDocument/2006/relationships" id="257" r:id="Rb0b5b5f3f37e4e6f"/>
    <p:sldId xmlns:r="http://schemas.openxmlformats.org/officeDocument/2006/relationships" id="258" r:id="R24fd25f462a045a0"/>
    <p:sldId xmlns:r="http://schemas.openxmlformats.org/officeDocument/2006/relationships" id="259" r:id="R12fac62b63444edb"/>
    <p:sldId xmlns:r="http://schemas.openxmlformats.org/officeDocument/2006/relationships" id="260" r:id="R046a2ef443984a5c"/>
    <p:sldId xmlns:r="http://schemas.openxmlformats.org/officeDocument/2006/relationships" id="261" r:id="R46da617477db4cdd"/>
    <p:sldId xmlns:r="http://schemas.openxmlformats.org/officeDocument/2006/relationships" id="262" r:id="Rf06a4b238fcd4111"/>
    <p:sldId xmlns:r="http://schemas.openxmlformats.org/officeDocument/2006/relationships" id="263" r:id="R67ed4c445a004aba"/>
    <p:sldId xmlns:r="http://schemas.openxmlformats.org/officeDocument/2006/relationships" id="264" r:id="R7b1331008e9048cb"/>
    <p:sldId xmlns:r="http://schemas.openxmlformats.org/officeDocument/2006/relationships" id="265" r:id="R7be63564fd5748e4"/>
    <p:sldId xmlns:r="http://schemas.openxmlformats.org/officeDocument/2006/relationships" id="266" r:id="R94e86f3a23a84ead"/>
    <p:sldId xmlns:r="http://schemas.openxmlformats.org/officeDocument/2006/relationships" id="267" r:id="Rc25446710b2247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fb29f1531d4804" /><Relationship Type="http://schemas.openxmlformats.org/officeDocument/2006/relationships/slideMaster" Target="/ppt/slideMasters/slideMaster1.xml" Id="Rc69b11bd278f4898" /><Relationship Type="http://schemas.openxmlformats.org/officeDocument/2006/relationships/notesMaster" Target="/ppt/notesMasters/notesMaster1.xml" Id="Rf24c02dfd27143b1" /><Relationship Type="http://schemas.openxmlformats.org/officeDocument/2006/relationships/presProps" Target="/ppt/presProps.xml" Id="Rfce78ade799a4713" /><Relationship Type="http://schemas.openxmlformats.org/officeDocument/2006/relationships/tableStyles" Target="/ppt/tableStyles.xml" Id="R0c7792a6dda74765" /><Relationship Type="http://schemas.openxmlformats.org/officeDocument/2006/relationships/slide" Target="/ppt/slides/slide1.xml" Id="Rb45b3e46800c4f7d" /><Relationship Type="http://schemas.openxmlformats.org/officeDocument/2006/relationships/slide" Target="/ppt/slides/slide2.xml" Id="Rb0b5b5f3f37e4e6f" /><Relationship Type="http://schemas.openxmlformats.org/officeDocument/2006/relationships/slide" Target="/ppt/slides/slide3.xml" Id="R24fd25f462a045a0" /><Relationship Type="http://schemas.openxmlformats.org/officeDocument/2006/relationships/slide" Target="/ppt/slides/slide4.xml" Id="R12fac62b63444edb" /><Relationship Type="http://schemas.openxmlformats.org/officeDocument/2006/relationships/slide" Target="/ppt/slides/slide5.xml" Id="R046a2ef443984a5c" /><Relationship Type="http://schemas.openxmlformats.org/officeDocument/2006/relationships/slide" Target="/ppt/slides/slide6.xml" Id="R46da617477db4cdd" /><Relationship Type="http://schemas.openxmlformats.org/officeDocument/2006/relationships/slide" Target="/ppt/slides/slide7.xml" Id="Rf06a4b238fcd4111" /><Relationship Type="http://schemas.openxmlformats.org/officeDocument/2006/relationships/slide" Target="/ppt/slides/slide8.xml" Id="R67ed4c445a004aba" /><Relationship Type="http://schemas.openxmlformats.org/officeDocument/2006/relationships/slide" Target="/ppt/slides/slide9.xml" Id="R7b1331008e9048cb" /><Relationship Type="http://schemas.openxmlformats.org/officeDocument/2006/relationships/slide" Target="/ppt/slides/slide10.xml" Id="R7be63564fd5748e4" /><Relationship Type="http://schemas.openxmlformats.org/officeDocument/2006/relationships/slide" Target="/ppt/slides/slide11.xml" Id="R94e86f3a23a84ead" /><Relationship Type="http://schemas.openxmlformats.org/officeDocument/2006/relationships/slide" Target="/ppt/slides/slide12.xml" Id="Rc25446710b2247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335bd57fbc45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758cb2bcf14282" /><Relationship Type="http://schemas.openxmlformats.org/officeDocument/2006/relationships/notesMaster" Target="/ppt/notesMasters/notesMaster1.xml" Id="Rca55ade8abd54c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2f8908e52d4aac" /><Relationship Type="http://schemas.openxmlformats.org/officeDocument/2006/relationships/notesMaster" Target="/ppt/notesMasters/notesMaster1.xml" Id="Rfebaf66b13ae43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f9f58095f14419" /><Relationship Type="http://schemas.openxmlformats.org/officeDocument/2006/relationships/notesMaster" Target="/ppt/notesMasters/notesMaster1.xml" Id="Rea165a67784f42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9d316f10e645ea" /><Relationship Type="http://schemas.openxmlformats.org/officeDocument/2006/relationships/notesMaster" Target="/ppt/notesMasters/notesMaster1.xml" Id="Ref95bd847d6449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876f1261194683" /><Relationship Type="http://schemas.openxmlformats.org/officeDocument/2006/relationships/notesMaster" Target="/ppt/notesMasters/notesMaster1.xml" Id="R6d57216620254c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ed3d18836f48c6" /><Relationship Type="http://schemas.openxmlformats.org/officeDocument/2006/relationships/notesMaster" Target="/ppt/notesMasters/notesMaster1.xml" Id="R9f081d7896e740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043cf0a55b468c" /><Relationship Type="http://schemas.openxmlformats.org/officeDocument/2006/relationships/notesMaster" Target="/ppt/notesMasters/notesMaster1.xml" Id="Rdbc549965b414f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fbdee798084df2" /><Relationship Type="http://schemas.openxmlformats.org/officeDocument/2006/relationships/notesMaster" Target="/ppt/notesMasters/notesMaster1.xml" Id="Rfc0c05de800d48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95888844bd4125" /><Relationship Type="http://schemas.openxmlformats.org/officeDocument/2006/relationships/notesMaster" Target="/ppt/notesMasters/notesMaster1.xml" Id="R734cc341e4fa49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0b871cc54e4c3a" /><Relationship Type="http://schemas.openxmlformats.org/officeDocument/2006/relationships/notesMaster" Target="/ppt/notesMasters/notesMaster1.xml" Id="Rf0dd5d7560184f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bd5a83e94b40d4" /><Relationship Type="http://schemas.openxmlformats.org/officeDocument/2006/relationships/notesMaster" Target="/ppt/notesMasters/notesMaster1.xml" Id="R881183ca21a741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6c39ddf96947ce" /><Relationship Type="http://schemas.openxmlformats.org/officeDocument/2006/relationships/notesMaster" Target="/ppt/notesMasters/notesMaster1.xml" Id="Rbd4d21ef616643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ShareCommute is a campus-focused website for discovering shared journeys and dividing the cost transparently. The team is presenting a local academic implementation. Mentor: Mrs. Gauri Dhongade. Team names and institution come from the supplied synopsis. The synopsis guides the idea, while the implemented scope defines the feature claims.</a:t>
            </a:r>
          </a:p>
          <a:p xmlns:a="http://schemas.openxmlformats.org/drawingml/2006/main">
            <a:r>
              <a:t/>
            </a:r>
          </a:p>
          <a:p xmlns:a="http://schemas.openxmlformats.org/drawingml/2006/main">
            <a:r>
              <a:t>Project sources: sharecommute/docs/PROJECT_BRIEF.md; sharecommute/public/favicon.svg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turns the find-or-offer model into a campus-specific interface. The screenshot shows the retained Phase 1 interface. The current source connects this interface to the local Node and SQLite backend. Quick Ride inspired the find/offer pattern, while ShareCommute uses original branding and a smaller campus scope. Reference: https://quickride.in/ and https://quickride.in/help.php.</a:t>
            </a:r>
          </a:p>
          <a:p xmlns:a="http://schemas.openxmlformats.org/drawingml/2006/main">
            <a:r>
              <a:t/>
            </a:r>
          </a:p>
          <a:p xmlns:a="http://schemas.openxmlformats.org/drawingml/2006/main">
            <a:r>
              <a:t>Project sources: sharecommute/docs/PROJECT_BRIEF.md; sharecommute/components/commute-app.tsx; sharecommute/lib/commute.ts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problems the project aims to address, rather than findings from a completed campus survey. Informal coordination makes it difficult to compare departure times, seat availability and expected contributions. The proposed solution keeps those details in one place.</a:t>
            </a:r>
          </a:p>
          <a:p xmlns:a="http://schemas.openxmlformats.org/drawingml/2006/main">
            <a:r>
              <a:t/>
            </a:r>
          </a:p>
          <a:p xmlns:a="http://schemas.openxmlformats.org/drawingml/2006/main">
            <a:r>
              <a:t>Project sources: sharecommute/docs/PROJECT_BRIEF.md; sharecommute/docs/PLAN.md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these as intended benefits of the workflow. The project has not measured adoption, travel-cost savings across users, traffic reduction or carbon savings. For a particular journey, the app calculates the equal share explicitly. Broader campus impact would require a real pilot and evidence.</a:t>
            </a:r>
          </a:p>
          <a:p xmlns:a="http://schemas.openxmlformats.org/drawingml/2006/main">
            <a:r>
              <a:t/>
            </a:r>
          </a:p>
          <a:p xmlns:a="http://schemas.openxmlformats.org/drawingml/2006/main">
            <a:r>
              <a:t>Project sources: sharecommute/docs/PROJECT_BRIEF.md; sharecommute/server/rides.ts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Search supports named Pune landmarks, an inclusive time tolerance and the requested number of seats. Ride types are carpool, cab split and bikepool. The default dataset contains fictional rides clearly labelled as samples. The current interface exposes the server-backed booking and offer operations.</a:t>
            </a:r>
          </a:p>
          <a:p xmlns:a="http://schemas.openxmlformats.org/drawingml/2006/main">
            <a:r>
              <a:t/>
            </a:r>
          </a:p>
          <a:p xmlns:a="http://schemas.openxmlformats.org/drawingml/2006/main">
            <a:r>
              <a:t>Project sources: sharecommute/components/commute-app.tsx; sharecommute/components/offer-form.tsx; sharecommute/server/rides.ts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flow in this order. Sign-in accepts the configured institutional domain, currently mitwpu.edu.in. Development mode deliberately displays a test code and does not prove that the user owns the email address. When real delivery is configured, the backend can send a code through Resend. The booking operation validates availability on the server.</a:t>
            </a:r>
          </a:p>
          <a:p xmlns:a="http://schemas.openxmlformats.org/drawingml/2006/main">
            <a:r>
              <a:t/>
            </a:r>
          </a:p>
          <a:p xmlns:a="http://schemas.openxmlformats.org/drawingml/2006/main">
            <a:r>
              <a:t>Project sources: sharecommute/components/sign-in-panel.tsx; sharecommute/server/auth.ts; sharecommute/server/app.ts; sharecommute/server/rides.ts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Capacity includes the host, and cost sharing includes every traveller. The backend stores money as integer paise. If a total does not divide evenly, the algorithm allocates extra paise deterministically so all shares add exactly to the original total. For example, ₹100 split among three people becomes ₹33.34, ₹33.33 and ₹33.33. The displayed share can change when people join or cancel.</a:t>
            </a:r>
          </a:p>
          <a:p xmlns:a="http://schemas.openxmlformats.org/drawingml/2006/main">
            <a:r>
              <a:t/>
            </a:r>
          </a:p>
          <a:p xmlns:a="http://schemas.openxmlformats.org/drawingml/2006/main">
            <a:r>
              <a:t>Project sources: sharecommute/lib/commute.ts; sharecommute/server/rides.ts; sharecommute/tests/commute.test.mjs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scheduler uses a unique template/date constraint, so repeated runs do not create duplicates. Cancelled occurrences stay recorded so the scheduler does not recreate them. Stopping the complete schedule closes future ride offers and their active bookings. The scheduler runs only while the local server is running.</a:t>
            </a:r>
          </a:p>
          <a:p xmlns:a="http://schemas.openxmlformats.org/drawingml/2006/main">
            <a:r>
              <a:t/>
            </a:r>
          </a:p>
          <a:p xmlns:a="http://schemas.openxmlformats.org/drawingml/2006/main">
            <a:r>
              <a:t>Project sources: sharecommute/server/rides.ts; sharecommute/server/migrations/003_recurring_and_reports.sql; sharecommute/server/index.ts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presenting these controls as a guarantee of personal safety. Students should still meet in public and confirm whom they travel with. Sessions use an HttpOnly cookie. Sign-in codes expire, have limited attempts and cannot be reused. Booking/cancellation writes enforce ownership. Test mode does not provide email ownership verification, even though it restricts the email suffix.</a:t>
            </a:r>
          </a:p>
          <a:p xmlns:a="http://schemas.openxmlformats.org/drawingml/2006/main">
            <a:r>
              <a:t/>
            </a:r>
          </a:p>
          <a:p xmlns:a="http://schemas.openxmlformats.org/drawingml/2006/main">
            <a:r>
              <a:t>Project sources: sharecommute/server/auth.ts; sharecommute/server/app.ts; sharecommute/server/rides.ts; sharecommute/server/migrations/001_core.sql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Administrator access is a distinct server-side permission. A local CLI grants that role after an account exists. Suspending a member removes sessions, stops schedules and cancels their upcoming bookings and offers. Restoring access does not restore cancelled travel automatically. The report form does not contact emergency services.</a:t>
            </a:r>
          </a:p>
          <a:p xmlns:a="http://schemas.openxmlformats.org/drawingml/2006/main">
            <a:r>
              <a:t/>
            </a:r>
          </a:p>
          <a:p xmlns:a="http://schemas.openxmlformats.org/drawingml/2006/main">
            <a:r>
              <a:t>Project sources: sharecommute/server/admin.ts; sharecommute/components/admin-panel.tsx; sharecommute/components/report-form.tsx; sharecommute/scripts/admin.mjs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approved two phases, with the original frontend retained for the final application. The current code uses Vite with React and TypeScript, a Node server and SQLite. Drizzle was an unused starter dependency and was removed. The 24-test suite passed in the prior development session, including simultaneous final-seat requests and recurrence/moderation checks. Do not claim that this constitutes a live campus pilot. Source remains local and no GitHub remote has been configured.</a:t>
            </a:r>
          </a:p>
          <a:p xmlns:a="http://schemas.openxmlformats.org/drawingml/2006/main">
            <a:r>
              <a:t/>
            </a:r>
          </a:p>
          <a:p xmlns:a="http://schemas.openxmlformats.org/drawingml/2006/main">
            <a:r>
              <a:t>Project sources: sharecommute/package.json; sharecommute/server/database.ts; sharecommute/tests/server.test.mjs; sharecommute/docs/PLAN.md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runs locally. Its current mail mode shows development codes. Resend support exists, but the provided account had no verified sender domain during the check, so real email delivery remains untested. The route illustration is a landmark schematic rather than live navigation. The project does not collect payments, use AI matching or claim measured carbon savings. Proposed integrations are optional follow-ups, not implemented capabilities.</a:t>
            </a:r>
          </a:p>
          <a:p xmlns:a="http://schemas.openxmlformats.org/drawingml/2006/main">
            <a:r>
              <a:t/>
            </a:r>
          </a:p>
          <a:p xmlns:a="http://schemas.openxmlformats.org/drawingml/2006/main">
            <a:r>
              <a:t>Project sources: sharecommute/server/mailer.ts; sharecommute/components/route-overview.tsx; sharecommute/docs/PLAN.md; sharecommute/server/index.ts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3af6f6500e48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21d5e7c0554f8d" /><Relationship Type="http://schemas.openxmlformats.org/officeDocument/2006/relationships/slideLayout" Target="/ppt/slideLayouts/slideLayout1.xml" Id="R738b3fd0e8cc44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8b3fd0e8cc44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74042752b84841" /><Relationship Type="http://schemas.openxmlformats.org/officeDocument/2006/relationships/image" Target="/ppt/media/image.png" Id="Rb6bc43201ef642da" /><Relationship Type="http://schemas.openxmlformats.org/officeDocument/2006/relationships/image" Target="/ppt/media/image.svg" Id="R766cc539a8e44d8f" /><Relationship Type="http://schemas.openxmlformats.org/officeDocument/2006/relationships/notesSlide" Target="/ppt/notesSlides/notesSlide1.xml" Id="R4ad6ce5dcf4d4c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e608b565d34c44" /><Relationship Type="http://schemas.openxmlformats.org/officeDocument/2006/relationships/image" Target="/ppt/media/image.jpeg" Id="Re55e445fe2b74eb2" /><Relationship Type="http://schemas.openxmlformats.org/officeDocument/2006/relationships/notesSlide" Target="/ppt/notesSlides/notesSlide2.xml" Id="R3eee582c7b5b47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49804f8bab4b98" /><Relationship Type="http://schemas.openxmlformats.org/officeDocument/2006/relationships/notesSlide" Target="/ppt/notesSlides/notesSlide3.xml" Id="R77c3a28710484a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b373004ed94279" /><Relationship Type="http://schemas.openxmlformats.org/officeDocument/2006/relationships/notesSlide" Target="/ppt/notesSlides/notesSlide4.xml" Id="R160bb436ff4c4f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a69751e2914faf" /><Relationship Type="http://schemas.openxmlformats.org/officeDocument/2006/relationships/notesSlide" Target="/ppt/notesSlides/notesSlide5.xml" Id="R084463a2c2a342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52b0b6ccf34e4b" /><Relationship Type="http://schemas.openxmlformats.org/officeDocument/2006/relationships/notesSlide" Target="/ppt/notesSlides/notesSlide6.xml" Id="R225843f5e3054a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7fe388ee2a420d" /><Relationship Type="http://schemas.openxmlformats.org/officeDocument/2006/relationships/notesSlide" Target="/ppt/notesSlides/notesSlide7.xml" Id="R9c185774b91b45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448c0ed82e439b" /><Relationship Type="http://schemas.openxmlformats.org/officeDocument/2006/relationships/notesSlide" Target="/ppt/notesSlides/notesSlide8.xml" Id="Rdfdc0dd00d0041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f1671e5cff43bf" /><Relationship Type="http://schemas.openxmlformats.org/officeDocument/2006/relationships/notesSlide" Target="/ppt/notesSlides/notesSlide9.xml" Id="Rd217a02fca7943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15ebf06ccb04380" /><Relationship Type="http://schemas.openxmlformats.org/officeDocument/2006/relationships/notesSlide" Target="/ppt/notesSlides/notesSlide10.xml" Id="R9bf667d48eb945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c668cffa814856" /><Relationship Type="http://schemas.openxmlformats.org/officeDocument/2006/relationships/notesSlide" Target="/ppt/notesSlides/notesSlide11.xml" Id="Rf6f2acd6305447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a75fccf9f3b4418" /><Relationship Type="http://schemas.openxmlformats.org/officeDocument/2006/relationships/notesSlide" Target="/ppt/notesSlides/notesSlide12.xml" Id="R964dde140add475b" /></Relationships>
</file>

<file path=ppt/slides/slide1.xml><?xml version="1.0" encoding="utf-8"?>
<p:sld xmlns:p="http://schemas.openxmlformats.org/presentationml/2006/main">
  <p:cSld>
    <p:bg>
      <p:bgPr>
        <a:solidFill xmlns:a="http://schemas.openxmlformats.org/drawingml/2006/main">
          <a:srgbClr val="063E3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6bc43201ef642da">
            <a:extLst>
              <a:ext uri="{96DAC541-7B7A-43D3-8B79-37D633B846F1}">
                <asvg:svgBlip xmlns:asvg="http://schemas.microsoft.com/office/drawing/2016/SVG/main" r:embed="R766cc539a8e44d8f"/>
              </a:ext>
            </a:extLst>
          </a:blip>
          <a:stretch xmlns:a="http://schemas.openxmlformats.org/drawingml/2006/main"/>
        </p:blipFill>
        <p:spPr>
          <a:xfrm xmlns:a="http://schemas.openxmlformats.org/drawingml/2006/main">
            <a:off x="647700" y="619125"/>
            <a:ext cx="609600" cy="6096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8A173D0-2819-43F6-962B-7FF607F93979}"/>
              </a:ext>
            </a:extLst>
          </p:cNvPr>
          <p:cNvSpPr>
            <a:spLocks xmlns:a="http://schemas.openxmlformats.org/drawingml/2006/main" noGrp="1"/>
          </p:cNvSpPr>
          <p:nvPr/>
        </p:nvSpPr>
        <p:spPr>
          <a:xfrm xmlns:a="http://schemas.openxmlformats.org/drawingml/2006/main">
            <a:off x="609600" y="1952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ShareCommute</a:t>
            </a:r>
          </a:p>
        </p:txBody>
      </p:sp>
      <p:sp>
        <p:nvSpPr>
          <p:cNvPr id="3" name="text-2">
            <a:extLst xmlns:a="http://schemas.openxmlformats.org/drawingml/2006/main">
              <a:ext uri="{FF2B5EF4-FFF2-40B4-BE49-F238E27FC236}">
                <a16:creationId xmlns:a16="http://schemas.microsoft.com/office/drawing/2014/main" id="{DD2F16A0-BECE-4A07-A42A-07163A3412FA}"/>
              </a:ext>
            </a:extLst>
          </p:cNvPr>
          <p:cNvSpPr>
            <a:spLocks xmlns:a="http://schemas.openxmlformats.org/drawingml/2006/main" noGrp="1"/>
          </p:cNvSpPr>
          <p:nvPr/>
        </p:nvSpPr>
        <p:spPr>
          <a:xfrm xmlns:a="http://schemas.openxmlformats.org/drawingml/2006/main">
            <a:off x="657225" y="3038475"/>
            <a:ext cx="9715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CEEF9B"/>
                </a:solidFill>
                <a:latin typeface="Arial"/>
                <a:ea typeface="Arial"/>
                <a:cs typeface="Arial"/>
              </a:defRPr>
            </a:pPr>
            <a:r>
              <a:rPr sz="3000" b="0">
                <a:solidFill>
                  <a:srgbClr val="CEEF9B"/>
                </a:solidFill>
                <a:latin typeface="Arial"/>
                <a:ea typeface="Arial"/>
                <a:cs typeface="Arial"/>
              </a:rPr>
              <a:t>Campus ride sharing</a:t>
            </a:r>
          </a:p>
          <a:p xmlns:a="http://schemas.openxmlformats.org/drawingml/2006/main">
            <a:pPr algn="l">
              <a:defRPr sz="3000" b="0">
                <a:solidFill>
                  <a:srgbClr val="CEEF9B"/>
                </a:solidFill>
                <a:latin typeface="Arial"/>
                <a:ea typeface="Arial"/>
                <a:cs typeface="Arial"/>
              </a:defRPr>
            </a:pPr>
            <a:r>
              <a:rPr sz="3000" b="0">
                <a:solidFill>
                  <a:srgbClr val="CEEF9B"/>
                </a:solidFill>
                <a:latin typeface="Arial"/>
                <a:ea typeface="Arial"/>
                <a:cs typeface="Arial"/>
              </a:rPr>
              <a:t>and fare splitting</a:t>
            </a:r>
          </a:p>
        </p:txBody>
      </p:sp>
      <p:sp>
        <p:nvSpPr>
          <p:cNvPr id="4" name="text-3">
            <a:extLst xmlns:a="http://schemas.openxmlformats.org/drawingml/2006/main">
              <a:ext uri="{FF2B5EF4-FFF2-40B4-BE49-F238E27FC236}">
                <a16:creationId xmlns:a16="http://schemas.microsoft.com/office/drawing/2014/main" id="{F5E9F016-02A8-42C5-8210-B121E1DD9AE5}"/>
              </a:ext>
            </a:extLst>
          </p:cNvPr>
          <p:cNvSpPr>
            <a:spLocks xmlns:a="http://schemas.openxmlformats.org/drawingml/2006/main" noGrp="1"/>
          </p:cNvSpPr>
          <p:nvPr/>
        </p:nvSpPr>
        <p:spPr>
          <a:xfrm xmlns:a="http://schemas.openxmlformats.org/drawingml/2006/main">
            <a:off x="657225" y="4905375"/>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Project Based Learning III</a:t>
            </a:r>
          </a:p>
        </p:txBody>
      </p:sp>
      <p:sp>
        <p:nvSpPr>
          <p:cNvPr id="5" name="text-4">
            <a:extLst xmlns:a="http://schemas.openxmlformats.org/drawingml/2006/main">
              <a:ext uri="{FF2B5EF4-FFF2-40B4-BE49-F238E27FC236}">
                <a16:creationId xmlns:a16="http://schemas.microsoft.com/office/drawing/2014/main" id="{739DD3D2-5863-430A-A131-F9A42842347E}"/>
              </a:ext>
            </a:extLst>
          </p:cNvPr>
          <p:cNvSpPr>
            <a:spLocks xmlns:a="http://schemas.openxmlformats.org/drawingml/2006/main" noGrp="1"/>
          </p:cNvSpPr>
          <p:nvPr/>
        </p:nvSpPr>
        <p:spPr>
          <a:xfrm xmlns:a="http://schemas.openxmlformats.org/drawingml/2006/main">
            <a:off x="657225" y="5305425"/>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BAD1C1"/>
                </a:solidFill>
                <a:latin typeface="Arial"/>
                <a:ea typeface="Arial"/>
                <a:cs typeface="Arial"/>
              </a:defRPr>
            </a:pPr>
            <a:r>
              <a:rPr sz="1725" b="0">
                <a:solidFill>
                  <a:srgbClr val="BAD1C1"/>
                </a:solidFill>
                <a:latin typeface="Arial"/>
                <a:ea typeface="Arial"/>
                <a:cs typeface="Arial"/>
              </a:rPr>
              <a:t>MIT World Peace University, Pune</a:t>
            </a:r>
          </a:p>
        </p:txBody>
      </p:sp>
      <p:sp>
        <p:nvSpPr>
          <p:cNvPr id="6" name="text-5">
            <a:extLst xmlns:a="http://schemas.openxmlformats.org/drawingml/2006/main">
              <a:ext uri="{FF2B5EF4-FFF2-40B4-BE49-F238E27FC236}">
                <a16:creationId xmlns:a16="http://schemas.microsoft.com/office/drawing/2014/main" id="{95E43C66-23AD-4D16-9D42-3D913F720286}"/>
              </a:ext>
            </a:extLst>
          </p:cNvPr>
          <p:cNvSpPr>
            <a:spLocks xmlns:a="http://schemas.openxmlformats.org/drawingml/2006/main" noGrp="1"/>
          </p:cNvSpPr>
          <p:nvPr/>
        </p:nvSpPr>
        <p:spPr>
          <a:xfrm xmlns:a="http://schemas.openxmlformats.org/drawingml/2006/main">
            <a:off x="657225" y="60674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BAD1C1"/>
                </a:solidFill>
                <a:latin typeface="Arial"/>
                <a:ea typeface="Arial"/>
                <a:cs typeface="Arial"/>
              </a:defRPr>
            </a:pPr>
            <a:r>
              <a:rPr sz="1500" b="0">
                <a:solidFill>
                  <a:srgbClr val="BAD1C1"/>
                </a:solidFill>
                <a:latin typeface="Arial"/>
                <a:ea typeface="Arial"/>
                <a:cs typeface="Arial"/>
              </a:rPr>
              <a:t>Siddhant Bangar   /   Samyak Doshi   /   Dipesh Savardekar</a:t>
            </a:r>
          </a:p>
        </p:txBody>
      </p:sp>
    </p:spTree>
    <p:extLst>
      <p:ext uri="{BB962C8B-B14F-4D97-AF65-F5344CB8AC3E}">
        <p14:creationId xmlns:p14="http://schemas.microsoft.com/office/powerpoint/2010/main" val="1114092713"/>
      </p:ext>
    </p:extLst>
  </p:cSld>
</p:sld>
</file>

<file path=ppt/slides/slide2.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0" name="text-6">
            <a:extLst xmlns:a="http://schemas.openxmlformats.org/drawingml/2006/main">
              <a:ext uri="{FF2B5EF4-FFF2-40B4-BE49-F238E27FC236}">
                <a16:creationId xmlns:a16="http://schemas.microsoft.com/office/drawing/2014/main" id="{719F1A8D-9987-47B4-9BD1-EC335433E58B}"/>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76B4D"/>
                </a:solidFill>
                <a:latin typeface="Arial"/>
                <a:ea typeface="Arial"/>
                <a:cs typeface="Arial"/>
              </a:defRPr>
            </a:pPr>
            <a:r>
              <a:rPr sz="1275" b="1">
                <a:solidFill>
                  <a:srgbClr val="076B4D"/>
                </a:solidFill>
                <a:latin typeface="Arial"/>
                <a:ea typeface="Arial"/>
                <a:cs typeface="Arial"/>
              </a:rPr>
              <a:t>WHAT IT IS</a:t>
            </a:r>
          </a:p>
        </p:txBody>
      </p:sp>
      <p:sp>
        <p:nvSpPr>
          <p:cNvPr id="2" name="text-7">
            <a:extLst xmlns:a="http://schemas.openxmlformats.org/drawingml/2006/main">
              <a:ext uri="{FF2B5EF4-FFF2-40B4-BE49-F238E27FC236}">
                <a16:creationId xmlns:a16="http://schemas.microsoft.com/office/drawing/2014/main" id="{9B706C21-2D98-4910-99E1-C0D5A89AA269}"/>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6382C"/>
                </a:solidFill>
                <a:latin typeface="Arial"/>
                <a:ea typeface="Arial"/>
                <a:cs typeface="Arial"/>
              </a:defRPr>
            </a:pPr>
            <a:r>
              <a:rPr sz="3300" b="1">
                <a:solidFill>
                  <a:srgbClr val="16382C"/>
                </a:solidFill>
                <a:latin typeface="Arial"/>
                <a:ea typeface="Arial"/>
                <a:cs typeface="Arial"/>
              </a:rPr>
              <a:t>Website overview</a:t>
            </a:r>
          </a:p>
        </p:txBody>
      </p:sp>
      <p:sp>
        <p:nvSpPr>
          <p:cNvPr id="3" name="text-8">
            <a:extLst xmlns:a="http://schemas.openxmlformats.org/drawingml/2006/main">
              <a:ext uri="{FF2B5EF4-FFF2-40B4-BE49-F238E27FC236}">
                <a16:creationId xmlns:a16="http://schemas.microsoft.com/office/drawing/2014/main" id="{30C357AE-481A-410F-AF50-1877301923A7}"/>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ShareCommute</a:t>
            </a:r>
          </a:p>
        </p:txBody>
      </p:sp>
      <p:sp>
        <p:nvSpPr>
          <p:cNvPr id="4" name="text-9">
            <a:extLst xmlns:a="http://schemas.openxmlformats.org/drawingml/2006/main">
              <a:ext uri="{FF2B5EF4-FFF2-40B4-BE49-F238E27FC236}">
                <a16:creationId xmlns:a16="http://schemas.microsoft.com/office/drawing/2014/main" id="{482BCFC1-A2B1-40ED-B101-47B5210A3727}"/>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66C60"/>
                </a:solidFill>
                <a:latin typeface="Arial"/>
                <a:ea typeface="Arial"/>
                <a:cs typeface="Arial"/>
              </a:defRPr>
            </a:pPr>
            <a:r>
              <a:rPr sz="1125" b="0">
                <a:solidFill>
                  <a:srgbClr val="566C60"/>
                </a:solidFill>
                <a:latin typeface="Arial"/>
                <a:ea typeface="Arial"/>
                <a:cs typeface="Arial"/>
              </a:rPr>
              <a:t>02</a:t>
            </a:r>
          </a:p>
        </p:txBody>
      </p:sp>
      <p:sp>
        <p:nvSpPr>
          <p:cNvPr id="5" name="text-10">
            <a:extLst xmlns:a="http://schemas.openxmlformats.org/drawingml/2006/main">
              <a:ext uri="{FF2B5EF4-FFF2-40B4-BE49-F238E27FC236}">
                <a16:creationId xmlns:a16="http://schemas.microsoft.com/office/drawing/2014/main" id="{47AD0054-B07A-49A4-BDA2-450FE66FA32A}"/>
              </a:ext>
            </a:extLst>
          </p:cNvPr>
          <p:cNvSpPr>
            <a:spLocks xmlns:a="http://schemas.openxmlformats.org/drawingml/2006/main" noGrp="1"/>
          </p:cNvSpPr>
          <p:nvPr/>
        </p:nvSpPr>
        <p:spPr>
          <a:xfrm xmlns:a="http://schemas.openxmlformats.org/drawingml/2006/main">
            <a:off x="609600" y="21431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76B4D"/>
                </a:solidFill>
                <a:latin typeface="Arial"/>
                <a:ea typeface="Arial"/>
                <a:cs typeface="Arial"/>
              </a:defRPr>
            </a:pPr>
            <a:r>
              <a:rPr sz="2550" b="1">
                <a:solidFill>
                  <a:srgbClr val="076B4D"/>
                </a:solidFill>
                <a:latin typeface="Arial"/>
                <a:ea typeface="Arial"/>
                <a:cs typeface="Arial"/>
              </a:rPr>
              <a:t>A campus community</a:t>
            </a:r>
          </a:p>
          <a:p xmlns:a="http://schemas.openxmlformats.org/drawingml/2006/main">
            <a:pPr algn="l">
              <a:defRPr sz="2550" b="1">
                <a:solidFill>
                  <a:srgbClr val="076B4D"/>
                </a:solidFill>
                <a:latin typeface="Arial"/>
                <a:ea typeface="Arial"/>
                <a:cs typeface="Arial"/>
              </a:defRPr>
            </a:pPr>
            <a:r>
              <a:rPr sz="2550" b="1">
                <a:solidFill>
                  <a:srgbClr val="076B4D"/>
                </a:solidFill>
                <a:latin typeface="Arial"/>
                <a:ea typeface="Arial"/>
                <a:cs typeface="Arial"/>
              </a:rPr>
              <a:t>for shared journeys</a:t>
            </a:r>
          </a:p>
        </p:txBody>
      </p:sp>
      <p:sp>
        <p:nvSpPr>
          <p:cNvPr id="6" name="text-11">
            <a:extLst xmlns:a="http://schemas.openxmlformats.org/drawingml/2006/main">
              <a:ext uri="{FF2B5EF4-FFF2-40B4-BE49-F238E27FC236}">
                <a16:creationId xmlns:a16="http://schemas.microsoft.com/office/drawing/2014/main" id="{E189D3AB-B653-4FA1-A1DC-01C07E826251}"/>
              </a:ext>
            </a:extLst>
          </p:cNvPr>
          <p:cNvSpPr>
            <a:spLocks xmlns:a="http://schemas.openxmlformats.org/drawingml/2006/main" noGrp="1"/>
          </p:cNvSpPr>
          <p:nvPr/>
        </p:nvSpPr>
        <p:spPr>
          <a:xfrm xmlns:a="http://schemas.openxmlformats.org/drawingml/2006/main">
            <a:off x="609600" y="3390900"/>
            <a:ext cx="3429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6382C"/>
                </a:solidFill>
                <a:latin typeface="Arial"/>
                <a:ea typeface="Arial"/>
                <a:cs typeface="Arial"/>
              </a:defRPr>
            </a:pPr>
            <a:r>
              <a:rPr sz="1950" b="0">
                <a:solidFill>
                  <a:srgbClr val="16382C"/>
                </a:solidFill>
                <a:latin typeface="Arial"/>
                <a:ea typeface="Arial"/>
                <a:cs typeface="Arial"/>
              </a:rPr>
              <a:t>Students and faculty can find compatible rides, offer empty seats and see their share of the journey cost.</a:t>
            </a:r>
          </a:p>
        </p:txBody>
      </p:sp>
      <p:sp>
        <p:nvSpPr>
          <p:cNvPr id="7" name="text-12">
            <a:extLst xmlns:a="http://schemas.openxmlformats.org/drawingml/2006/main">
              <a:ext uri="{FF2B5EF4-FFF2-40B4-BE49-F238E27FC236}">
                <a16:creationId xmlns:a16="http://schemas.microsoft.com/office/drawing/2014/main" id="{1D18BB9B-9E85-4A87-BEF6-D922394D424D}"/>
              </a:ext>
            </a:extLst>
          </p:cNvPr>
          <p:cNvSpPr>
            <a:spLocks xmlns:a="http://schemas.openxmlformats.org/drawingml/2006/main" noGrp="1"/>
          </p:cNvSpPr>
          <p:nvPr/>
        </p:nvSpPr>
        <p:spPr>
          <a:xfrm xmlns:a="http://schemas.openxmlformats.org/drawingml/2006/main">
            <a:off x="609600" y="53054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Carpooling, cab splitting</a:t>
            </a:r>
          </a:p>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and bikepooling</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55e445fe2b74eb2"/>
          <a:stretch xmlns:a="http://schemas.openxmlformats.org/drawingml/2006/main"/>
        </p:blipFill>
        <p:spPr>
          <a:xfrm xmlns:a="http://schemas.openxmlformats.org/drawingml/2006/main">
            <a:off x="4333875" y="1977567"/>
            <a:ext cx="7239000" cy="4074441"/>
          </a:xfrm>
          <a:prstGeom xmlns:a="http://schemas.openxmlformats.org/drawingml/2006/main" prst="rect">
            <a:avLst/>
          </a:prstGeom>
        </p:spPr>
      </p:pic>
      <p:sp>
        <p:nvSpPr>
          <p:cNvPr id="9" name="text-13">
            <a:extLst xmlns:a="http://schemas.openxmlformats.org/drawingml/2006/main">
              <a:ext uri="{FF2B5EF4-FFF2-40B4-BE49-F238E27FC236}">
                <a16:creationId xmlns:a16="http://schemas.microsoft.com/office/drawing/2014/main" id="{D0ED1E44-5DEF-4A69-934E-C1FFEBE02D9D}"/>
              </a:ext>
            </a:extLst>
          </p:cNvPr>
          <p:cNvSpPr>
            <a:spLocks xmlns:a="http://schemas.openxmlformats.org/drawingml/2006/main" noGrp="1"/>
          </p:cNvSpPr>
          <p:nvPr/>
        </p:nvSpPr>
        <p:spPr>
          <a:xfrm xmlns:a="http://schemas.openxmlformats.org/drawingml/2006/main">
            <a:off x="4410075" y="6076950"/>
            <a:ext cx="7067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Website interface from the Phase 1 local preview</a:t>
            </a:r>
          </a:p>
        </p:txBody>
      </p:sp>
    </p:spTree>
    <p:extLst>
      <p:ext uri="{BB962C8B-B14F-4D97-AF65-F5344CB8AC3E}">
        <p14:creationId xmlns:p14="http://schemas.microsoft.com/office/powerpoint/2010/main" val="1273334785"/>
      </p:ext>
    </p:extLst>
  </p:cSld>
</p:sld>
</file>

<file path=ppt/slides/slide3.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7" name="text-14">
            <a:extLst xmlns:a="http://schemas.openxmlformats.org/drawingml/2006/main">
              <a:ext uri="{FF2B5EF4-FFF2-40B4-BE49-F238E27FC236}">
                <a16:creationId xmlns:a16="http://schemas.microsoft.com/office/drawing/2014/main" id="{447E31EB-C719-43D4-B0EE-788AE4E6A856}"/>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76B4D"/>
                </a:solidFill>
                <a:latin typeface="Arial"/>
                <a:ea typeface="Arial"/>
                <a:cs typeface="Arial"/>
              </a:defRPr>
            </a:pPr>
            <a:r>
              <a:rPr sz="1275" b="1">
                <a:solidFill>
                  <a:srgbClr val="076B4D"/>
                </a:solidFill>
                <a:latin typeface="Arial"/>
                <a:ea typeface="Arial"/>
                <a:cs typeface="Arial"/>
              </a:rPr>
              <a:t>THE CAMPUS PROBLEM</a:t>
            </a:r>
          </a:p>
        </p:txBody>
      </p:sp>
      <p:sp>
        <p:nvSpPr>
          <p:cNvPr id="2" name="text-15">
            <a:extLst xmlns:a="http://schemas.openxmlformats.org/drawingml/2006/main">
              <a:ext uri="{FF2B5EF4-FFF2-40B4-BE49-F238E27FC236}">
                <a16:creationId xmlns:a16="http://schemas.microsoft.com/office/drawing/2014/main" id="{F905D9BB-3557-4F5B-95EE-5BB9CF9FD4C8}"/>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6382C"/>
                </a:solidFill>
                <a:latin typeface="Arial"/>
                <a:ea typeface="Arial"/>
                <a:cs typeface="Arial"/>
              </a:defRPr>
            </a:pPr>
            <a:r>
              <a:rPr sz="3300" b="1">
                <a:solidFill>
                  <a:srgbClr val="16382C"/>
                </a:solidFill>
                <a:latin typeface="Arial"/>
                <a:ea typeface="Arial"/>
                <a:cs typeface="Arial"/>
              </a:rPr>
              <a:t>Why the website is needed</a:t>
            </a:r>
          </a:p>
        </p:txBody>
      </p:sp>
      <p:sp>
        <p:nvSpPr>
          <p:cNvPr id="3" name="text-16">
            <a:extLst xmlns:a="http://schemas.openxmlformats.org/drawingml/2006/main">
              <a:ext uri="{FF2B5EF4-FFF2-40B4-BE49-F238E27FC236}">
                <a16:creationId xmlns:a16="http://schemas.microsoft.com/office/drawing/2014/main" id="{43319986-4B8C-4D0B-A250-32B9442FFD0A}"/>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ShareCommute</a:t>
            </a:r>
          </a:p>
        </p:txBody>
      </p:sp>
      <p:sp>
        <p:nvSpPr>
          <p:cNvPr id="4" name="text-17">
            <a:extLst xmlns:a="http://schemas.openxmlformats.org/drawingml/2006/main">
              <a:ext uri="{FF2B5EF4-FFF2-40B4-BE49-F238E27FC236}">
                <a16:creationId xmlns:a16="http://schemas.microsoft.com/office/drawing/2014/main" id="{07ABBBF2-98E3-4E27-98C7-DA9A83200594}"/>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66C60"/>
                </a:solidFill>
                <a:latin typeface="Arial"/>
                <a:ea typeface="Arial"/>
                <a:cs typeface="Arial"/>
              </a:defRPr>
            </a:pPr>
            <a:r>
              <a:rPr sz="1125" b="0">
                <a:solidFill>
                  <a:srgbClr val="566C60"/>
                </a:solidFill>
                <a:latin typeface="Arial"/>
                <a:ea typeface="Arial"/>
                <a:cs typeface="Arial"/>
              </a:rPr>
              <a:t>03</a:t>
            </a:r>
          </a:p>
        </p:txBody>
      </p:sp>
      <p:sp>
        <p:nvSpPr>
          <p:cNvPr id="5" name="text-18">
            <a:extLst xmlns:a="http://schemas.openxmlformats.org/drawingml/2006/main">
              <a:ext uri="{FF2B5EF4-FFF2-40B4-BE49-F238E27FC236}">
                <a16:creationId xmlns:a16="http://schemas.microsoft.com/office/drawing/2014/main" id="{8ACFDCB4-8AB9-470C-8D7A-077EBA6FBFDB}"/>
              </a:ext>
            </a:extLst>
          </p:cNvPr>
          <p:cNvSpPr>
            <a:spLocks xmlns:a="http://schemas.openxmlformats.org/drawingml/2006/main" noGrp="1"/>
          </p:cNvSpPr>
          <p:nvPr/>
        </p:nvSpPr>
        <p:spPr>
          <a:xfrm xmlns:a="http://schemas.openxmlformats.org/drawingml/2006/main">
            <a:off x="609600" y="1952625"/>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76B4D"/>
                </a:solidFill>
                <a:latin typeface="Arial"/>
                <a:ea typeface="Arial"/>
                <a:cs typeface="Arial"/>
              </a:defRPr>
            </a:pPr>
            <a:r>
              <a:rPr sz="2550" b="1">
                <a:solidFill>
                  <a:srgbClr val="076B4D"/>
                </a:solidFill>
                <a:latin typeface="Arial"/>
                <a:ea typeface="Arial"/>
                <a:cs typeface="Arial"/>
              </a:rPr>
              <a:t>01</a:t>
            </a:r>
          </a:p>
        </p:txBody>
      </p:sp>
      <p:sp>
        <p:nvSpPr>
          <p:cNvPr id="6" name="text-19">
            <a:extLst xmlns:a="http://schemas.openxmlformats.org/drawingml/2006/main">
              <a:ext uri="{FF2B5EF4-FFF2-40B4-BE49-F238E27FC236}">
                <a16:creationId xmlns:a16="http://schemas.microsoft.com/office/drawing/2014/main" id="{1AA8179C-017E-4739-9762-B515120B2599}"/>
              </a:ext>
            </a:extLst>
          </p:cNvPr>
          <p:cNvSpPr>
            <a:spLocks xmlns:a="http://schemas.openxmlformats.org/drawingml/2006/main" noGrp="1"/>
          </p:cNvSpPr>
          <p:nvPr/>
        </p:nvSpPr>
        <p:spPr>
          <a:xfrm xmlns:a="http://schemas.openxmlformats.org/drawingml/2006/main">
            <a:off x="1524000" y="1962150"/>
            <a:ext cx="328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6382C"/>
                </a:solidFill>
                <a:latin typeface="Arial"/>
                <a:ea typeface="Arial"/>
                <a:cs typeface="Arial"/>
              </a:defRPr>
            </a:pPr>
            <a:r>
              <a:rPr sz="2025" b="1">
                <a:solidFill>
                  <a:srgbClr val="16382C"/>
                </a:solidFill>
                <a:latin typeface="Arial"/>
                <a:ea typeface="Arial"/>
                <a:cs typeface="Arial"/>
              </a:rPr>
              <a:t>Scattered coordination</a:t>
            </a:r>
          </a:p>
        </p:txBody>
      </p:sp>
      <p:sp>
        <p:nvSpPr>
          <p:cNvPr id="7" name="text-20">
            <a:extLst xmlns:a="http://schemas.openxmlformats.org/drawingml/2006/main">
              <a:ext uri="{FF2B5EF4-FFF2-40B4-BE49-F238E27FC236}">
                <a16:creationId xmlns:a16="http://schemas.microsoft.com/office/drawing/2014/main" id="{4277FD0B-9CBD-4930-9C20-02585B419867}"/>
              </a:ext>
            </a:extLst>
          </p:cNvPr>
          <p:cNvSpPr>
            <a:spLocks xmlns:a="http://schemas.openxmlformats.org/drawingml/2006/main" noGrp="1"/>
          </p:cNvSpPr>
          <p:nvPr/>
        </p:nvSpPr>
        <p:spPr>
          <a:xfrm xmlns:a="http://schemas.openxmlformats.org/drawingml/2006/main">
            <a:off x="5286375" y="1971675"/>
            <a:ext cx="6191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C60"/>
                </a:solidFill>
                <a:latin typeface="Arial"/>
                <a:ea typeface="Arial"/>
                <a:cs typeface="Arial"/>
              </a:defRPr>
            </a:pPr>
            <a:r>
              <a:rPr sz="1875" b="0">
                <a:solidFill>
                  <a:srgbClr val="566C60"/>
                </a:solidFill>
                <a:latin typeface="Arial"/>
                <a:ea typeface="Arial"/>
                <a:cs typeface="Arial"/>
              </a:rPr>
              <a:t>Ride details get lost across chats and personal contacts.</a:t>
            </a:r>
          </a:p>
        </p:txBody>
      </p:sp>
      <p:sp>
        <p:nvSpPr>
          <p:cNvPr id="8" name="text-21">
            <a:extLst xmlns:a="http://schemas.openxmlformats.org/drawingml/2006/main">
              <a:ext uri="{FF2B5EF4-FFF2-40B4-BE49-F238E27FC236}">
                <a16:creationId xmlns:a16="http://schemas.microsoft.com/office/drawing/2014/main" id="{119B0989-9323-43EE-8A7E-06FA755A1801}"/>
              </a:ext>
            </a:extLst>
          </p:cNvPr>
          <p:cNvSpPr>
            <a:spLocks xmlns:a="http://schemas.openxmlformats.org/drawingml/2006/main" noGrp="1"/>
          </p:cNvSpPr>
          <p:nvPr/>
        </p:nvSpPr>
        <p:spPr>
          <a:xfrm xmlns:a="http://schemas.openxmlformats.org/drawingml/2006/main">
            <a:off x="609600" y="2962275"/>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76B4D"/>
                </a:solidFill>
                <a:latin typeface="Arial"/>
                <a:ea typeface="Arial"/>
                <a:cs typeface="Arial"/>
              </a:defRPr>
            </a:pPr>
            <a:r>
              <a:rPr sz="2550" b="1">
                <a:solidFill>
                  <a:srgbClr val="076B4D"/>
                </a:solidFill>
                <a:latin typeface="Arial"/>
                <a:ea typeface="Arial"/>
                <a:cs typeface="Arial"/>
              </a:rPr>
              <a:t>02</a:t>
            </a:r>
          </a:p>
        </p:txBody>
      </p:sp>
      <p:sp>
        <p:nvSpPr>
          <p:cNvPr id="9" name="text-22">
            <a:extLst xmlns:a="http://schemas.openxmlformats.org/drawingml/2006/main">
              <a:ext uri="{FF2B5EF4-FFF2-40B4-BE49-F238E27FC236}">
                <a16:creationId xmlns:a16="http://schemas.microsoft.com/office/drawing/2014/main" id="{7249151C-6031-45A0-9224-2C659C930528}"/>
              </a:ext>
            </a:extLst>
          </p:cNvPr>
          <p:cNvSpPr>
            <a:spLocks xmlns:a="http://schemas.openxmlformats.org/drawingml/2006/main" noGrp="1"/>
          </p:cNvSpPr>
          <p:nvPr/>
        </p:nvSpPr>
        <p:spPr>
          <a:xfrm xmlns:a="http://schemas.openxmlformats.org/drawingml/2006/main">
            <a:off x="1524000" y="2971800"/>
            <a:ext cx="328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6382C"/>
                </a:solidFill>
                <a:latin typeface="Arial"/>
                <a:ea typeface="Arial"/>
                <a:cs typeface="Arial"/>
              </a:defRPr>
            </a:pPr>
            <a:r>
              <a:rPr sz="2025" b="1">
                <a:solidFill>
                  <a:srgbClr val="16382C"/>
                </a:solidFill>
                <a:latin typeface="Arial"/>
                <a:ea typeface="Arial"/>
                <a:cs typeface="Arial"/>
              </a:rPr>
              <a:t>Unused seats</a:t>
            </a:r>
          </a:p>
        </p:txBody>
      </p:sp>
      <p:sp>
        <p:nvSpPr>
          <p:cNvPr id="10" name="text-23">
            <a:extLst xmlns:a="http://schemas.openxmlformats.org/drawingml/2006/main">
              <a:ext uri="{FF2B5EF4-FFF2-40B4-BE49-F238E27FC236}">
                <a16:creationId xmlns:a16="http://schemas.microsoft.com/office/drawing/2014/main" id="{EBFB9BC8-4762-4E94-8130-9D0C134CE8B1}"/>
              </a:ext>
            </a:extLst>
          </p:cNvPr>
          <p:cNvSpPr>
            <a:spLocks xmlns:a="http://schemas.openxmlformats.org/drawingml/2006/main" noGrp="1"/>
          </p:cNvSpPr>
          <p:nvPr/>
        </p:nvSpPr>
        <p:spPr>
          <a:xfrm xmlns:a="http://schemas.openxmlformats.org/drawingml/2006/main">
            <a:off x="5286375" y="2981325"/>
            <a:ext cx="6191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C60"/>
                </a:solidFill>
                <a:latin typeface="Arial"/>
                <a:ea typeface="Arial"/>
                <a:cs typeface="Arial"/>
              </a:defRPr>
            </a:pPr>
            <a:r>
              <a:rPr sz="1875" b="0">
                <a:solidFill>
                  <a:srgbClr val="566C60"/>
                </a:solidFill>
                <a:latin typeface="Arial"/>
                <a:ea typeface="Arial"/>
                <a:cs typeface="Arial"/>
              </a:rPr>
              <a:t>People travel along similar routes while seats remain empty.</a:t>
            </a:r>
          </a:p>
        </p:txBody>
      </p:sp>
      <p:sp>
        <p:nvSpPr>
          <p:cNvPr id="11" name="text-24">
            <a:extLst xmlns:a="http://schemas.openxmlformats.org/drawingml/2006/main">
              <a:ext uri="{FF2B5EF4-FFF2-40B4-BE49-F238E27FC236}">
                <a16:creationId xmlns:a16="http://schemas.microsoft.com/office/drawing/2014/main" id="{7E9DED83-CE4B-4893-88BA-49C546B908FD}"/>
              </a:ext>
            </a:extLst>
          </p:cNvPr>
          <p:cNvSpPr>
            <a:spLocks xmlns:a="http://schemas.openxmlformats.org/drawingml/2006/main" noGrp="1"/>
          </p:cNvSpPr>
          <p:nvPr/>
        </p:nvSpPr>
        <p:spPr>
          <a:xfrm xmlns:a="http://schemas.openxmlformats.org/drawingml/2006/main">
            <a:off x="609600" y="3971925"/>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76B4D"/>
                </a:solidFill>
                <a:latin typeface="Arial"/>
                <a:ea typeface="Arial"/>
                <a:cs typeface="Arial"/>
              </a:defRPr>
            </a:pPr>
            <a:r>
              <a:rPr sz="2550" b="1">
                <a:solidFill>
                  <a:srgbClr val="076B4D"/>
                </a:solidFill>
                <a:latin typeface="Arial"/>
                <a:ea typeface="Arial"/>
                <a:cs typeface="Arial"/>
              </a:rPr>
              <a:t>03</a:t>
            </a:r>
          </a:p>
        </p:txBody>
      </p:sp>
      <p:sp>
        <p:nvSpPr>
          <p:cNvPr id="12" name="text-25">
            <a:extLst xmlns:a="http://schemas.openxmlformats.org/drawingml/2006/main">
              <a:ext uri="{FF2B5EF4-FFF2-40B4-BE49-F238E27FC236}">
                <a16:creationId xmlns:a16="http://schemas.microsoft.com/office/drawing/2014/main" id="{500A4284-4377-4DBB-A236-97529269DBBD}"/>
              </a:ext>
            </a:extLst>
          </p:cNvPr>
          <p:cNvSpPr>
            <a:spLocks xmlns:a="http://schemas.openxmlformats.org/drawingml/2006/main" noGrp="1"/>
          </p:cNvSpPr>
          <p:nvPr/>
        </p:nvSpPr>
        <p:spPr>
          <a:xfrm xmlns:a="http://schemas.openxmlformats.org/drawingml/2006/main">
            <a:off x="1524000" y="3981450"/>
            <a:ext cx="328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6382C"/>
                </a:solidFill>
                <a:latin typeface="Arial"/>
                <a:ea typeface="Arial"/>
                <a:cs typeface="Arial"/>
              </a:defRPr>
            </a:pPr>
            <a:r>
              <a:rPr sz="2025" b="1">
                <a:solidFill>
                  <a:srgbClr val="16382C"/>
                </a:solidFill>
                <a:latin typeface="Arial"/>
                <a:ea typeface="Arial"/>
                <a:cs typeface="Arial"/>
              </a:rPr>
              <a:t>Unclear costs</a:t>
            </a:r>
          </a:p>
        </p:txBody>
      </p:sp>
      <p:sp>
        <p:nvSpPr>
          <p:cNvPr id="13" name="text-26">
            <a:extLst xmlns:a="http://schemas.openxmlformats.org/drawingml/2006/main">
              <a:ext uri="{FF2B5EF4-FFF2-40B4-BE49-F238E27FC236}">
                <a16:creationId xmlns:a16="http://schemas.microsoft.com/office/drawing/2014/main" id="{412D1A0E-76C5-40F2-9FD3-C682FF7B584A}"/>
              </a:ext>
            </a:extLst>
          </p:cNvPr>
          <p:cNvSpPr>
            <a:spLocks xmlns:a="http://schemas.openxmlformats.org/drawingml/2006/main" noGrp="1"/>
          </p:cNvSpPr>
          <p:nvPr/>
        </p:nvSpPr>
        <p:spPr>
          <a:xfrm xmlns:a="http://schemas.openxmlformats.org/drawingml/2006/main">
            <a:off x="5286375" y="3990975"/>
            <a:ext cx="6191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C60"/>
                </a:solidFill>
                <a:latin typeface="Arial"/>
                <a:ea typeface="Arial"/>
                <a:cs typeface="Arial"/>
              </a:defRPr>
            </a:pPr>
            <a:r>
              <a:rPr sz="1875" b="0">
                <a:solidFill>
                  <a:srgbClr val="566C60"/>
                </a:solidFill>
                <a:latin typeface="Arial"/>
                <a:ea typeface="Arial"/>
                <a:cs typeface="Arial"/>
              </a:rPr>
              <a:t>Travellers need to know how the journey cost will be shared.</a:t>
            </a:r>
          </a:p>
        </p:txBody>
      </p:sp>
      <p:sp>
        <p:nvSpPr>
          <p:cNvPr id="14" name="text-27">
            <a:extLst xmlns:a="http://schemas.openxmlformats.org/drawingml/2006/main">
              <a:ext uri="{FF2B5EF4-FFF2-40B4-BE49-F238E27FC236}">
                <a16:creationId xmlns:a16="http://schemas.microsoft.com/office/drawing/2014/main" id="{EE3140FC-652A-49E6-AD64-58851AF2AD8F}"/>
              </a:ext>
            </a:extLst>
          </p:cNvPr>
          <p:cNvSpPr>
            <a:spLocks xmlns:a="http://schemas.openxmlformats.org/drawingml/2006/main" noGrp="1"/>
          </p:cNvSpPr>
          <p:nvPr/>
        </p:nvSpPr>
        <p:spPr>
          <a:xfrm xmlns:a="http://schemas.openxmlformats.org/drawingml/2006/main">
            <a:off x="609600" y="4981575"/>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76B4D"/>
                </a:solidFill>
                <a:latin typeface="Arial"/>
                <a:ea typeface="Arial"/>
                <a:cs typeface="Arial"/>
              </a:defRPr>
            </a:pPr>
            <a:r>
              <a:rPr sz="2550" b="1">
                <a:solidFill>
                  <a:srgbClr val="076B4D"/>
                </a:solidFill>
                <a:latin typeface="Arial"/>
                <a:ea typeface="Arial"/>
                <a:cs typeface="Arial"/>
              </a:rPr>
              <a:t>04</a:t>
            </a:r>
          </a:p>
        </p:txBody>
      </p:sp>
      <p:sp>
        <p:nvSpPr>
          <p:cNvPr id="15" name="text-28">
            <a:extLst xmlns:a="http://schemas.openxmlformats.org/drawingml/2006/main">
              <a:ext uri="{FF2B5EF4-FFF2-40B4-BE49-F238E27FC236}">
                <a16:creationId xmlns:a16="http://schemas.microsoft.com/office/drawing/2014/main" id="{A87C5B7F-1B79-4EDB-9BCA-8F1F0F119546}"/>
              </a:ext>
            </a:extLst>
          </p:cNvPr>
          <p:cNvSpPr>
            <a:spLocks xmlns:a="http://schemas.openxmlformats.org/drawingml/2006/main" noGrp="1"/>
          </p:cNvSpPr>
          <p:nvPr/>
        </p:nvSpPr>
        <p:spPr>
          <a:xfrm xmlns:a="http://schemas.openxmlformats.org/drawingml/2006/main">
            <a:off x="1524000" y="4991100"/>
            <a:ext cx="328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6382C"/>
                </a:solidFill>
                <a:latin typeface="Arial"/>
                <a:ea typeface="Arial"/>
                <a:cs typeface="Arial"/>
              </a:defRPr>
            </a:pPr>
            <a:r>
              <a:rPr sz="2025" b="1">
                <a:solidFill>
                  <a:srgbClr val="16382C"/>
                </a:solidFill>
                <a:latin typeface="Arial"/>
                <a:ea typeface="Arial"/>
                <a:cs typeface="Arial"/>
              </a:rPr>
              <a:t>Changing plans</a:t>
            </a:r>
          </a:p>
        </p:txBody>
      </p:sp>
      <p:sp>
        <p:nvSpPr>
          <p:cNvPr id="16" name="text-29">
            <a:extLst xmlns:a="http://schemas.openxmlformats.org/drawingml/2006/main">
              <a:ext uri="{FF2B5EF4-FFF2-40B4-BE49-F238E27FC236}">
                <a16:creationId xmlns:a16="http://schemas.microsoft.com/office/drawing/2014/main" id="{107E2954-5835-4728-91EF-273E00E417F5}"/>
              </a:ext>
            </a:extLst>
          </p:cNvPr>
          <p:cNvSpPr>
            <a:spLocks xmlns:a="http://schemas.openxmlformats.org/drawingml/2006/main" noGrp="1"/>
          </p:cNvSpPr>
          <p:nvPr/>
        </p:nvSpPr>
        <p:spPr>
          <a:xfrm xmlns:a="http://schemas.openxmlformats.org/drawingml/2006/main">
            <a:off x="5286375" y="5000625"/>
            <a:ext cx="6191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C60"/>
                </a:solidFill>
                <a:latin typeface="Arial"/>
                <a:ea typeface="Arial"/>
                <a:cs typeface="Arial"/>
              </a:defRPr>
            </a:pPr>
            <a:r>
              <a:rPr sz="1875" b="0">
                <a:solidFill>
                  <a:srgbClr val="566C60"/>
                </a:solidFill>
                <a:latin typeface="Arial"/>
                <a:ea typeface="Arial"/>
                <a:cs typeface="Arial"/>
              </a:rPr>
              <a:t>Bookings and cancellations need a visible, consistent record.</a:t>
            </a:r>
          </a:p>
        </p:txBody>
      </p:sp>
    </p:spTree>
    <p:extLst>
      <p:ext uri="{BB962C8B-B14F-4D97-AF65-F5344CB8AC3E}">
        <p14:creationId xmlns:p14="http://schemas.microsoft.com/office/powerpoint/2010/main" val="2024344289"/>
      </p:ext>
    </p:extLst>
  </p:cSld>
</p:sld>
</file>

<file path=ppt/slides/slide4.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7" name="text-30">
            <a:extLst xmlns:a="http://schemas.openxmlformats.org/drawingml/2006/main">
              <a:ext uri="{FF2B5EF4-FFF2-40B4-BE49-F238E27FC236}">
                <a16:creationId xmlns:a16="http://schemas.microsoft.com/office/drawing/2014/main" id="{6C1524BF-196A-4E1C-88B4-F354740ACE70}"/>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76B4D"/>
                </a:solidFill>
                <a:latin typeface="Arial"/>
                <a:ea typeface="Arial"/>
                <a:cs typeface="Arial"/>
              </a:defRPr>
            </a:pPr>
            <a:r>
              <a:rPr sz="1275" b="1">
                <a:solidFill>
                  <a:srgbClr val="076B4D"/>
                </a:solidFill>
                <a:latin typeface="Arial"/>
                <a:ea typeface="Arial"/>
                <a:cs typeface="Arial"/>
              </a:rPr>
              <a:t>BENEFITS FOR THE COMMUNITY</a:t>
            </a:r>
          </a:p>
        </p:txBody>
      </p:sp>
      <p:sp>
        <p:nvSpPr>
          <p:cNvPr id="2" name="text-31">
            <a:extLst xmlns:a="http://schemas.openxmlformats.org/drawingml/2006/main">
              <a:ext uri="{FF2B5EF4-FFF2-40B4-BE49-F238E27FC236}">
                <a16:creationId xmlns:a16="http://schemas.microsoft.com/office/drawing/2014/main" id="{29410F97-38D2-4691-9585-C64C48F84CAD}"/>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6382C"/>
                </a:solidFill>
                <a:latin typeface="Arial"/>
                <a:ea typeface="Arial"/>
                <a:cs typeface="Arial"/>
              </a:defRPr>
            </a:pPr>
            <a:r>
              <a:rPr sz="3300" b="1">
                <a:solidFill>
                  <a:srgbClr val="16382C"/>
                </a:solidFill>
                <a:latin typeface="Arial"/>
                <a:ea typeface="Arial"/>
                <a:cs typeface="Arial"/>
              </a:rPr>
              <a:t>How ShareCommute helps</a:t>
            </a:r>
          </a:p>
        </p:txBody>
      </p:sp>
      <p:sp>
        <p:nvSpPr>
          <p:cNvPr id="3" name="text-32">
            <a:extLst xmlns:a="http://schemas.openxmlformats.org/drawingml/2006/main">
              <a:ext uri="{FF2B5EF4-FFF2-40B4-BE49-F238E27FC236}">
                <a16:creationId xmlns:a16="http://schemas.microsoft.com/office/drawing/2014/main" id="{0BBF4437-39E9-43D1-AE08-95BFAFB7941C}"/>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ShareCommute</a:t>
            </a:r>
          </a:p>
        </p:txBody>
      </p:sp>
      <p:sp>
        <p:nvSpPr>
          <p:cNvPr id="4" name="text-33">
            <a:extLst xmlns:a="http://schemas.openxmlformats.org/drawingml/2006/main">
              <a:ext uri="{FF2B5EF4-FFF2-40B4-BE49-F238E27FC236}">
                <a16:creationId xmlns:a16="http://schemas.microsoft.com/office/drawing/2014/main" id="{DBBAA969-F2BF-492E-82D9-5ABEEB6E4310}"/>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66C60"/>
                </a:solidFill>
                <a:latin typeface="Arial"/>
                <a:ea typeface="Arial"/>
                <a:cs typeface="Arial"/>
              </a:defRPr>
            </a:pPr>
            <a:r>
              <a:rPr sz="1125" b="0">
                <a:solidFill>
                  <a:srgbClr val="566C60"/>
                </a:solidFill>
                <a:latin typeface="Arial"/>
                <a:ea typeface="Arial"/>
                <a:cs typeface="Arial"/>
              </a:rPr>
              <a:t>04</a:t>
            </a:r>
          </a:p>
        </p:txBody>
      </p:sp>
      <p:sp>
        <p:nvSpPr>
          <p:cNvPr id="5" name="text-34">
            <a:extLst xmlns:a="http://schemas.openxmlformats.org/drawingml/2006/main">
              <a:ext uri="{FF2B5EF4-FFF2-40B4-BE49-F238E27FC236}">
                <a16:creationId xmlns:a16="http://schemas.microsoft.com/office/drawing/2014/main" id="{BCB4E4C4-0A0A-4D08-ABEB-E560A0C57614}"/>
              </a:ext>
            </a:extLst>
          </p:cNvPr>
          <p:cNvSpPr>
            <a:spLocks xmlns:a="http://schemas.openxmlformats.org/drawingml/2006/main" noGrp="1"/>
          </p:cNvSpPr>
          <p:nvPr/>
        </p:nvSpPr>
        <p:spPr>
          <a:xfrm xmlns:a="http://schemas.openxmlformats.org/drawingml/2006/main">
            <a:off x="609600" y="2047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076B4D"/>
                </a:solidFill>
                <a:latin typeface="Arial"/>
                <a:ea typeface="Arial"/>
                <a:cs typeface="Arial"/>
              </a:defRPr>
            </a:pPr>
            <a:r>
              <a:rPr sz="3000" b="1">
                <a:solidFill>
                  <a:srgbClr val="076B4D"/>
                </a:solidFill>
                <a:latin typeface="Arial"/>
                <a:ea typeface="Arial"/>
                <a:cs typeface="Arial"/>
              </a:rPr>
              <a:t>01</a:t>
            </a:r>
          </a:p>
        </p:txBody>
      </p:sp>
      <p:sp>
        <p:nvSpPr>
          <p:cNvPr id="6" name="text-35">
            <a:extLst xmlns:a="http://schemas.openxmlformats.org/drawingml/2006/main">
              <a:ext uri="{FF2B5EF4-FFF2-40B4-BE49-F238E27FC236}">
                <a16:creationId xmlns:a16="http://schemas.microsoft.com/office/drawing/2014/main" id="{D5080F7C-E681-4872-980F-A0242DE48EF9}"/>
              </a:ext>
            </a:extLst>
          </p:cNvPr>
          <p:cNvSpPr>
            <a:spLocks xmlns:a="http://schemas.openxmlformats.org/drawingml/2006/main" noGrp="1"/>
          </p:cNvSpPr>
          <p:nvPr/>
        </p:nvSpPr>
        <p:spPr>
          <a:xfrm xmlns:a="http://schemas.openxmlformats.org/drawingml/2006/main">
            <a:off x="1390650" y="2066925"/>
            <a:ext cx="431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6382C"/>
                </a:solidFill>
                <a:latin typeface="Arial"/>
                <a:ea typeface="Arial"/>
                <a:cs typeface="Arial"/>
              </a:defRPr>
            </a:pPr>
            <a:r>
              <a:rPr sz="2025" b="1">
                <a:solidFill>
                  <a:srgbClr val="16382C"/>
                </a:solidFill>
                <a:latin typeface="Arial"/>
                <a:ea typeface="Arial"/>
                <a:cs typeface="Arial"/>
              </a:rPr>
              <a:t>Lower individual cost</a:t>
            </a:r>
          </a:p>
        </p:txBody>
      </p:sp>
      <p:sp>
        <p:nvSpPr>
          <p:cNvPr id="7" name="text-36">
            <a:extLst xmlns:a="http://schemas.openxmlformats.org/drawingml/2006/main">
              <a:ext uri="{FF2B5EF4-FFF2-40B4-BE49-F238E27FC236}">
                <a16:creationId xmlns:a16="http://schemas.microsoft.com/office/drawing/2014/main" id="{9E9049C6-D1C9-4A51-9D14-83612AA65ADB}"/>
              </a:ext>
            </a:extLst>
          </p:cNvPr>
          <p:cNvSpPr>
            <a:spLocks xmlns:a="http://schemas.openxmlformats.org/drawingml/2006/main" noGrp="1"/>
          </p:cNvSpPr>
          <p:nvPr/>
        </p:nvSpPr>
        <p:spPr>
          <a:xfrm xmlns:a="http://schemas.openxmlformats.org/drawingml/2006/main">
            <a:off x="1390650" y="2647950"/>
            <a:ext cx="43148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Travellers share a journey’s cost instead of one person bearing the whole amount.</a:t>
            </a:r>
          </a:p>
        </p:txBody>
      </p:sp>
      <p:sp>
        <p:nvSpPr>
          <p:cNvPr id="8" name="text-37">
            <a:extLst xmlns:a="http://schemas.openxmlformats.org/drawingml/2006/main">
              <a:ext uri="{FF2B5EF4-FFF2-40B4-BE49-F238E27FC236}">
                <a16:creationId xmlns:a16="http://schemas.microsoft.com/office/drawing/2014/main" id="{A4830A19-8BFE-44B8-ACBC-219DE896EE23}"/>
              </a:ext>
            </a:extLst>
          </p:cNvPr>
          <p:cNvSpPr>
            <a:spLocks xmlns:a="http://schemas.openxmlformats.org/drawingml/2006/main" noGrp="1"/>
          </p:cNvSpPr>
          <p:nvPr/>
        </p:nvSpPr>
        <p:spPr>
          <a:xfrm xmlns:a="http://schemas.openxmlformats.org/drawingml/2006/main">
            <a:off x="6324600" y="2047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076B4D"/>
                </a:solidFill>
                <a:latin typeface="Arial"/>
                <a:ea typeface="Arial"/>
                <a:cs typeface="Arial"/>
              </a:defRPr>
            </a:pPr>
            <a:r>
              <a:rPr sz="3000" b="1">
                <a:solidFill>
                  <a:srgbClr val="076B4D"/>
                </a:solidFill>
                <a:latin typeface="Arial"/>
                <a:ea typeface="Arial"/>
                <a:cs typeface="Arial"/>
              </a:rPr>
              <a:t>02</a:t>
            </a:r>
          </a:p>
        </p:txBody>
      </p:sp>
      <p:sp>
        <p:nvSpPr>
          <p:cNvPr id="9" name="text-38">
            <a:extLst xmlns:a="http://schemas.openxmlformats.org/drawingml/2006/main">
              <a:ext uri="{FF2B5EF4-FFF2-40B4-BE49-F238E27FC236}">
                <a16:creationId xmlns:a16="http://schemas.microsoft.com/office/drawing/2014/main" id="{8F75A82A-62E0-49CF-88C3-620F1938B9D8}"/>
              </a:ext>
            </a:extLst>
          </p:cNvPr>
          <p:cNvSpPr>
            <a:spLocks xmlns:a="http://schemas.openxmlformats.org/drawingml/2006/main" noGrp="1"/>
          </p:cNvSpPr>
          <p:nvPr/>
        </p:nvSpPr>
        <p:spPr>
          <a:xfrm xmlns:a="http://schemas.openxmlformats.org/drawingml/2006/main">
            <a:off x="7105650" y="2066925"/>
            <a:ext cx="431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6382C"/>
                </a:solidFill>
                <a:latin typeface="Arial"/>
                <a:ea typeface="Arial"/>
                <a:cs typeface="Arial"/>
              </a:defRPr>
            </a:pPr>
            <a:r>
              <a:rPr sz="2025" b="1">
                <a:solidFill>
                  <a:srgbClr val="16382C"/>
                </a:solidFill>
                <a:latin typeface="Arial"/>
                <a:ea typeface="Arial"/>
                <a:cs typeface="Arial"/>
              </a:rPr>
              <a:t>Easier coordination</a:t>
            </a:r>
          </a:p>
        </p:txBody>
      </p:sp>
      <p:sp>
        <p:nvSpPr>
          <p:cNvPr id="10" name="text-39">
            <a:extLst xmlns:a="http://schemas.openxmlformats.org/drawingml/2006/main">
              <a:ext uri="{FF2B5EF4-FFF2-40B4-BE49-F238E27FC236}">
                <a16:creationId xmlns:a16="http://schemas.microsoft.com/office/drawing/2014/main" id="{68B12E67-1491-4223-9F3E-CD6D09E9B71E}"/>
              </a:ext>
            </a:extLst>
          </p:cNvPr>
          <p:cNvSpPr>
            <a:spLocks xmlns:a="http://schemas.openxmlformats.org/drawingml/2006/main" noGrp="1"/>
          </p:cNvSpPr>
          <p:nvPr/>
        </p:nvSpPr>
        <p:spPr>
          <a:xfrm xmlns:a="http://schemas.openxmlformats.org/drawingml/2006/main">
            <a:off x="7105650" y="2647950"/>
            <a:ext cx="43148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Pickup points, departure times and bookings stay together in one website.</a:t>
            </a:r>
          </a:p>
        </p:txBody>
      </p:sp>
      <p:sp>
        <p:nvSpPr>
          <p:cNvPr id="11" name="text-40">
            <a:extLst xmlns:a="http://schemas.openxmlformats.org/drawingml/2006/main">
              <a:ext uri="{FF2B5EF4-FFF2-40B4-BE49-F238E27FC236}">
                <a16:creationId xmlns:a16="http://schemas.microsoft.com/office/drawing/2014/main" id="{8BF5512D-7F06-4DA2-86CA-D688BE75F589}"/>
              </a:ext>
            </a:extLst>
          </p:cNvPr>
          <p:cNvSpPr>
            <a:spLocks xmlns:a="http://schemas.openxmlformats.org/drawingml/2006/main" noGrp="1"/>
          </p:cNvSpPr>
          <p:nvPr/>
        </p:nvSpPr>
        <p:spPr>
          <a:xfrm xmlns:a="http://schemas.openxmlformats.org/drawingml/2006/main">
            <a:off x="609600" y="41910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076B4D"/>
                </a:solidFill>
                <a:latin typeface="Arial"/>
                <a:ea typeface="Arial"/>
                <a:cs typeface="Arial"/>
              </a:defRPr>
            </a:pPr>
            <a:r>
              <a:rPr sz="3000" b="1">
                <a:solidFill>
                  <a:srgbClr val="076B4D"/>
                </a:solidFill>
                <a:latin typeface="Arial"/>
                <a:ea typeface="Arial"/>
                <a:cs typeface="Arial"/>
              </a:rPr>
              <a:t>03</a:t>
            </a:r>
          </a:p>
        </p:txBody>
      </p:sp>
      <p:sp>
        <p:nvSpPr>
          <p:cNvPr id="12" name="text-41">
            <a:extLst xmlns:a="http://schemas.openxmlformats.org/drawingml/2006/main">
              <a:ext uri="{FF2B5EF4-FFF2-40B4-BE49-F238E27FC236}">
                <a16:creationId xmlns:a16="http://schemas.microsoft.com/office/drawing/2014/main" id="{FE28BF87-75F3-4468-8514-92438C8A5B90}"/>
              </a:ext>
            </a:extLst>
          </p:cNvPr>
          <p:cNvSpPr>
            <a:spLocks xmlns:a="http://schemas.openxmlformats.org/drawingml/2006/main" noGrp="1"/>
          </p:cNvSpPr>
          <p:nvPr/>
        </p:nvSpPr>
        <p:spPr>
          <a:xfrm xmlns:a="http://schemas.openxmlformats.org/drawingml/2006/main">
            <a:off x="1390650" y="4210050"/>
            <a:ext cx="431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6382C"/>
                </a:solidFill>
                <a:latin typeface="Arial"/>
                <a:ea typeface="Arial"/>
                <a:cs typeface="Arial"/>
              </a:defRPr>
            </a:pPr>
            <a:r>
              <a:rPr sz="2025" b="1">
                <a:solidFill>
                  <a:srgbClr val="16382C"/>
                </a:solidFill>
                <a:latin typeface="Arial"/>
                <a:ea typeface="Arial"/>
                <a:cs typeface="Arial"/>
              </a:rPr>
              <a:t>Better use of seats</a:t>
            </a:r>
          </a:p>
        </p:txBody>
      </p:sp>
      <p:sp>
        <p:nvSpPr>
          <p:cNvPr id="13" name="text-42">
            <a:extLst xmlns:a="http://schemas.openxmlformats.org/drawingml/2006/main">
              <a:ext uri="{FF2B5EF4-FFF2-40B4-BE49-F238E27FC236}">
                <a16:creationId xmlns:a16="http://schemas.microsoft.com/office/drawing/2014/main" id="{D2ADA32E-82E8-4C33-8835-FD4928E64489}"/>
              </a:ext>
            </a:extLst>
          </p:cNvPr>
          <p:cNvSpPr>
            <a:spLocks xmlns:a="http://schemas.openxmlformats.org/drawingml/2006/main" noGrp="1"/>
          </p:cNvSpPr>
          <p:nvPr/>
        </p:nvSpPr>
        <p:spPr>
          <a:xfrm xmlns:a="http://schemas.openxmlformats.org/drawingml/2006/main">
            <a:off x="1390650" y="4791075"/>
            <a:ext cx="43148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Hosts can offer space on a journey they already plan to take.</a:t>
            </a:r>
          </a:p>
        </p:txBody>
      </p:sp>
      <p:sp>
        <p:nvSpPr>
          <p:cNvPr id="14" name="text-43">
            <a:extLst xmlns:a="http://schemas.openxmlformats.org/drawingml/2006/main">
              <a:ext uri="{FF2B5EF4-FFF2-40B4-BE49-F238E27FC236}">
                <a16:creationId xmlns:a16="http://schemas.microsoft.com/office/drawing/2014/main" id="{7198C9E4-44C4-4966-9589-3566ED146611}"/>
              </a:ext>
            </a:extLst>
          </p:cNvPr>
          <p:cNvSpPr>
            <a:spLocks xmlns:a="http://schemas.openxmlformats.org/drawingml/2006/main" noGrp="1"/>
          </p:cNvSpPr>
          <p:nvPr/>
        </p:nvSpPr>
        <p:spPr>
          <a:xfrm xmlns:a="http://schemas.openxmlformats.org/drawingml/2006/main">
            <a:off x="6324600" y="41910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076B4D"/>
                </a:solidFill>
                <a:latin typeface="Arial"/>
                <a:ea typeface="Arial"/>
                <a:cs typeface="Arial"/>
              </a:defRPr>
            </a:pPr>
            <a:r>
              <a:rPr sz="3000" b="1">
                <a:solidFill>
                  <a:srgbClr val="076B4D"/>
                </a:solidFill>
                <a:latin typeface="Arial"/>
                <a:ea typeface="Arial"/>
                <a:cs typeface="Arial"/>
              </a:rPr>
              <a:t>04</a:t>
            </a:r>
          </a:p>
        </p:txBody>
      </p:sp>
      <p:sp>
        <p:nvSpPr>
          <p:cNvPr id="15" name="text-44">
            <a:extLst xmlns:a="http://schemas.openxmlformats.org/drawingml/2006/main">
              <a:ext uri="{FF2B5EF4-FFF2-40B4-BE49-F238E27FC236}">
                <a16:creationId xmlns:a16="http://schemas.microsoft.com/office/drawing/2014/main" id="{9852B329-FB3A-42FE-BF83-A0C7C3B6A4FE}"/>
              </a:ext>
            </a:extLst>
          </p:cNvPr>
          <p:cNvSpPr>
            <a:spLocks xmlns:a="http://schemas.openxmlformats.org/drawingml/2006/main" noGrp="1"/>
          </p:cNvSpPr>
          <p:nvPr/>
        </p:nvSpPr>
        <p:spPr>
          <a:xfrm xmlns:a="http://schemas.openxmlformats.org/drawingml/2006/main">
            <a:off x="7105650" y="4210050"/>
            <a:ext cx="431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6382C"/>
                </a:solidFill>
                <a:latin typeface="Arial"/>
                <a:ea typeface="Arial"/>
                <a:cs typeface="Arial"/>
              </a:defRPr>
            </a:pPr>
            <a:r>
              <a:rPr sz="2025" b="1">
                <a:solidFill>
                  <a:srgbClr val="16382C"/>
                </a:solidFill>
                <a:latin typeface="Arial"/>
                <a:ea typeface="Arial"/>
                <a:cs typeface="Arial"/>
              </a:rPr>
              <a:t>More predictable plans</a:t>
            </a:r>
          </a:p>
        </p:txBody>
      </p:sp>
      <p:sp>
        <p:nvSpPr>
          <p:cNvPr id="16" name="text-45">
            <a:extLst xmlns:a="http://schemas.openxmlformats.org/drawingml/2006/main">
              <a:ext uri="{FF2B5EF4-FFF2-40B4-BE49-F238E27FC236}">
                <a16:creationId xmlns:a16="http://schemas.microsoft.com/office/drawing/2014/main" id="{CB801402-0152-41FE-BEE6-516C786D34AC}"/>
              </a:ext>
            </a:extLst>
          </p:cNvPr>
          <p:cNvSpPr>
            <a:spLocks xmlns:a="http://schemas.openxmlformats.org/drawingml/2006/main" noGrp="1"/>
          </p:cNvSpPr>
          <p:nvPr/>
        </p:nvSpPr>
        <p:spPr>
          <a:xfrm xmlns:a="http://schemas.openxmlformats.org/drawingml/2006/main">
            <a:off x="7105650" y="4791075"/>
            <a:ext cx="43148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Recurring schedules and visible cancellations help regular commuters organise travel.</a:t>
            </a:r>
          </a:p>
        </p:txBody>
      </p:sp>
    </p:spTree>
    <p:extLst>
      <p:ext uri="{BB962C8B-B14F-4D97-AF65-F5344CB8AC3E}">
        <p14:creationId xmlns:p14="http://schemas.microsoft.com/office/powerpoint/2010/main" val="1986033289"/>
      </p:ext>
    </p:extLst>
  </p:cSld>
</p:sld>
</file>

<file path=ppt/slides/slide5.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9" name="text-46">
            <a:extLst xmlns:a="http://schemas.openxmlformats.org/drawingml/2006/main">
              <a:ext uri="{FF2B5EF4-FFF2-40B4-BE49-F238E27FC236}">
                <a16:creationId xmlns:a16="http://schemas.microsoft.com/office/drawing/2014/main" id="{21CCCEBB-FB68-4AF6-8683-1451D060A2E8}"/>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76B4D"/>
                </a:solidFill>
                <a:latin typeface="Arial"/>
                <a:ea typeface="Arial"/>
                <a:cs typeface="Arial"/>
              </a:defRPr>
            </a:pPr>
            <a:r>
              <a:rPr sz="1275" b="1">
                <a:solidFill>
                  <a:srgbClr val="076B4D"/>
                </a:solidFill>
                <a:latin typeface="Arial"/>
                <a:ea typeface="Arial"/>
                <a:cs typeface="Arial"/>
              </a:rPr>
              <a:t>WHAT USERS CAN DO</a:t>
            </a:r>
          </a:p>
        </p:txBody>
      </p:sp>
      <p:sp>
        <p:nvSpPr>
          <p:cNvPr id="2" name="text-47">
            <a:extLst xmlns:a="http://schemas.openxmlformats.org/drawingml/2006/main">
              <a:ext uri="{FF2B5EF4-FFF2-40B4-BE49-F238E27FC236}">
                <a16:creationId xmlns:a16="http://schemas.microsoft.com/office/drawing/2014/main" id="{E2A58958-1855-4B48-AADE-07406BAAE1BE}"/>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6382C"/>
                </a:solidFill>
                <a:latin typeface="Arial"/>
                <a:ea typeface="Arial"/>
                <a:cs typeface="Arial"/>
              </a:defRPr>
            </a:pPr>
            <a:r>
              <a:rPr sz="3300" b="1">
                <a:solidFill>
                  <a:srgbClr val="16382C"/>
                </a:solidFill>
                <a:latin typeface="Arial"/>
                <a:ea typeface="Arial"/>
                <a:cs typeface="Arial"/>
              </a:rPr>
              <a:t>Main website features</a:t>
            </a:r>
          </a:p>
        </p:txBody>
      </p:sp>
      <p:sp>
        <p:nvSpPr>
          <p:cNvPr id="3" name="text-48">
            <a:extLst xmlns:a="http://schemas.openxmlformats.org/drawingml/2006/main">
              <a:ext uri="{FF2B5EF4-FFF2-40B4-BE49-F238E27FC236}">
                <a16:creationId xmlns:a16="http://schemas.microsoft.com/office/drawing/2014/main" id="{9C2FEE2E-D33B-441A-9CBB-5227EE65C994}"/>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ShareCommute</a:t>
            </a:r>
          </a:p>
        </p:txBody>
      </p:sp>
      <p:sp>
        <p:nvSpPr>
          <p:cNvPr id="4" name="text-49">
            <a:extLst xmlns:a="http://schemas.openxmlformats.org/drawingml/2006/main">
              <a:ext uri="{FF2B5EF4-FFF2-40B4-BE49-F238E27FC236}">
                <a16:creationId xmlns:a16="http://schemas.microsoft.com/office/drawing/2014/main" id="{3D5BD467-255C-4F48-A4D7-BA0640E7D31E}"/>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66C60"/>
                </a:solidFill>
                <a:latin typeface="Arial"/>
                <a:ea typeface="Arial"/>
                <a:cs typeface="Arial"/>
              </a:defRPr>
            </a:pPr>
            <a:r>
              <a:rPr sz="1125" b="0">
                <a:solidFill>
                  <a:srgbClr val="566C60"/>
                </a:solidFill>
                <a:latin typeface="Arial"/>
                <a:ea typeface="Arial"/>
                <a:cs typeface="Arial"/>
              </a:rPr>
              <a:t>05</a:t>
            </a:r>
          </a:p>
        </p:txBody>
      </p:sp>
      <p:sp>
        <p:nvSpPr>
          <p:cNvPr id="5" name="text-50">
            <a:extLst xmlns:a="http://schemas.openxmlformats.org/drawingml/2006/main">
              <a:ext uri="{FF2B5EF4-FFF2-40B4-BE49-F238E27FC236}">
                <a16:creationId xmlns:a16="http://schemas.microsoft.com/office/drawing/2014/main" id="{9B3DE512-264D-411A-908F-0AD7C1EA58C3}"/>
              </a:ext>
            </a:extLst>
          </p:cNvPr>
          <p:cNvSpPr>
            <a:spLocks xmlns:a="http://schemas.openxmlformats.org/drawingml/2006/main" noGrp="1"/>
          </p:cNvSpPr>
          <p:nvPr/>
        </p:nvSpPr>
        <p:spPr>
          <a:xfrm xmlns:a="http://schemas.openxmlformats.org/drawingml/2006/main">
            <a:off x="609600" y="1990725"/>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076B4D"/>
                </a:solidFill>
                <a:latin typeface="Arial"/>
                <a:ea typeface="Arial"/>
                <a:cs typeface="Arial"/>
              </a:defRPr>
            </a:pPr>
            <a:r>
              <a:rPr sz="2325" b="1">
                <a:solidFill>
                  <a:srgbClr val="076B4D"/>
                </a:solidFill>
                <a:latin typeface="Arial"/>
                <a:ea typeface="Arial"/>
                <a:cs typeface="Arial"/>
              </a:rPr>
              <a:t>Find and join a ride</a:t>
            </a:r>
          </a:p>
        </p:txBody>
      </p:sp>
      <p:sp>
        <p:nvSpPr>
          <p:cNvPr id="6" name="text-51">
            <a:extLst xmlns:a="http://schemas.openxmlformats.org/drawingml/2006/main">
              <a:ext uri="{FF2B5EF4-FFF2-40B4-BE49-F238E27FC236}">
                <a16:creationId xmlns:a16="http://schemas.microsoft.com/office/drawing/2014/main" id="{F50E872B-8319-41D4-BE02-3ABC3E20D842}"/>
              </a:ext>
            </a:extLst>
          </p:cNvPr>
          <p:cNvSpPr>
            <a:spLocks xmlns:a="http://schemas.openxmlformats.org/drawingml/2006/main" noGrp="1"/>
          </p:cNvSpPr>
          <p:nvPr/>
        </p:nvSpPr>
        <p:spPr>
          <a:xfrm xmlns:a="http://schemas.openxmlformats.org/drawingml/2006/main">
            <a:off x="609600" y="267652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Route and time search</a:t>
            </a:r>
          </a:p>
        </p:txBody>
      </p:sp>
      <p:sp>
        <p:nvSpPr>
          <p:cNvPr id="7" name="text-52">
            <a:extLst xmlns:a="http://schemas.openxmlformats.org/drawingml/2006/main">
              <a:ext uri="{FF2B5EF4-FFF2-40B4-BE49-F238E27FC236}">
                <a16:creationId xmlns:a16="http://schemas.microsoft.com/office/drawing/2014/main" id="{36EB7485-5BD7-4CD5-86CD-4532771F95CA}"/>
              </a:ext>
            </a:extLst>
          </p:cNvPr>
          <p:cNvSpPr>
            <a:spLocks xmlns:a="http://schemas.openxmlformats.org/drawingml/2006/main" noGrp="1"/>
          </p:cNvSpPr>
          <p:nvPr/>
        </p:nvSpPr>
        <p:spPr>
          <a:xfrm xmlns:a="http://schemas.openxmlformats.org/drawingml/2006/main">
            <a:off x="609600" y="31051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Select pickup, destination, date and a departure window.</a:t>
            </a:r>
          </a:p>
        </p:txBody>
      </p:sp>
      <p:sp>
        <p:nvSpPr>
          <p:cNvPr id="8" name="text-53">
            <a:extLst xmlns:a="http://schemas.openxmlformats.org/drawingml/2006/main">
              <a:ext uri="{FF2B5EF4-FFF2-40B4-BE49-F238E27FC236}">
                <a16:creationId xmlns:a16="http://schemas.microsoft.com/office/drawing/2014/main" id="{F278E695-8FF5-400B-9106-F98FA523A159}"/>
              </a:ext>
            </a:extLst>
          </p:cNvPr>
          <p:cNvSpPr>
            <a:spLocks xmlns:a="http://schemas.openxmlformats.org/drawingml/2006/main" noGrp="1"/>
          </p:cNvSpPr>
          <p:nvPr/>
        </p:nvSpPr>
        <p:spPr>
          <a:xfrm xmlns:a="http://schemas.openxmlformats.org/drawingml/2006/main">
            <a:off x="609600" y="376237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Useful comparisons</a:t>
            </a:r>
          </a:p>
        </p:txBody>
      </p:sp>
      <p:sp>
        <p:nvSpPr>
          <p:cNvPr id="9" name="text-54">
            <a:extLst xmlns:a="http://schemas.openxmlformats.org/drawingml/2006/main">
              <a:ext uri="{FF2B5EF4-FFF2-40B4-BE49-F238E27FC236}">
                <a16:creationId xmlns:a16="http://schemas.microsoft.com/office/drawing/2014/main" id="{AD31D502-317E-4D68-A114-8BDE50E4DDA9}"/>
              </a:ext>
            </a:extLst>
          </p:cNvPr>
          <p:cNvSpPr>
            <a:spLocks xmlns:a="http://schemas.openxmlformats.org/drawingml/2006/main" noGrp="1"/>
          </p:cNvSpPr>
          <p:nvPr/>
        </p:nvSpPr>
        <p:spPr>
          <a:xfrm xmlns:a="http://schemas.openxmlformats.org/drawingml/2006/main">
            <a:off x="609600" y="419100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Filter by ride type and sort by time or estimated cost.</a:t>
            </a:r>
          </a:p>
        </p:txBody>
      </p:sp>
      <p:sp>
        <p:nvSpPr>
          <p:cNvPr id="10" name="text-55">
            <a:extLst xmlns:a="http://schemas.openxmlformats.org/drawingml/2006/main">
              <a:ext uri="{FF2B5EF4-FFF2-40B4-BE49-F238E27FC236}">
                <a16:creationId xmlns:a16="http://schemas.microsoft.com/office/drawing/2014/main" id="{F6B8583B-3781-491E-A811-E3EC028A5BAC}"/>
              </a:ext>
            </a:extLst>
          </p:cNvPr>
          <p:cNvSpPr>
            <a:spLocks xmlns:a="http://schemas.openxmlformats.org/drawingml/2006/main" noGrp="1"/>
          </p:cNvSpPr>
          <p:nvPr/>
        </p:nvSpPr>
        <p:spPr>
          <a:xfrm xmlns:a="http://schemas.openxmlformats.org/drawingml/2006/main">
            <a:off x="609600" y="484822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Seat reservations</a:t>
            </a:r>
          </a:p>
        </p:txBody>
      </p:sp>
      <p:sp>
        <p:nvSpPr>
          <p:cNvPr id="11" name="text-56">
            <a:extLst xmlns:a="http://schemas.openxmlformats.org/drawingml/2006/main">
              <a:ext uri="{FF2B5EF4-FFF2-40B4-BE49-F238E27FC236}">
                <a16:creationId xmlns:a16="http://schemas.microsoft.com/office/drawing/2014/main" id="{5A64A207-B20D-40E9-B0DA-05EE42FEDCDF}"/>
              </a:ext>
            </a:extLst>
          </p:cNvPr>
          <p:cNvSpPr>
            <a:spLocks xmlns:a="http://schemas.openxmlformats.org/drawingml/2006/main" noGrp="1"/>
          </p:cNvSpPr>
          <p:nvPr/>
        </p:nvSpPr>
        <p:spPr>
          <a:xfrm xmlns:a="http://schemas.openxmlformats.org/drawingml/2006/main">
            <a:off x="609600" y="52768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Review the meeting point, reserve seats and see the cost share.</a:t>
            </a:r>
          </a:p>
        </p:txBody>
      </p:sp>
      <p:sp>
        <p:nvSpPr>
          <p:cNvPr id="12" name="text-57">
            <a:extLst xmlns:a="http://schemas.openxmlformats.org/drawingml/2006/main">
              <a:ext uri="{FF2B5EF4-FFF2-40B4-BE49-F238E27FC236}">
                <a16:creationId xmlns:a16="http://schemas.microsoft.com/office/drawing/2014/main" id="{D330ACC2-F4CB-4A01-B6D1-5D64AA1CEAEE}"/>
              </a:ext>
            </a:extLst>
          </p:cNvPr>
          <p:cNvSpPr>
            <a:spLocks xmlns:a="http://schemas.openxmlformats.org/drawingml/2006/main" noGrp="1"/>
          </p:cNvSpPr>
          <p:nvPr/>
        </p:nvSpPr>
        <p:spPr>
          <a:xfrm xmlns:a="http://schemas.openxmlformats.org/drawingml/2006/main">
            <a:off x="6524625" y="19907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076B4D"/>
                </a:solidFill>
                <a:latin typeface="Arial"/>
                <a:ea typeface="Arial"/>
                <a:cs typeface="Arial"/>
              </a:defRPr>
            </a:pPr>
            <a:r>
              <a:rPr sz="2325" b="1">
                <a:solidFill>
                  <a:srgbClr val="076B4D"/>
                </a:solidFill>
                <a:latin typeface="Arial"/>
                <a:ea typeface="Arial"/>
                <a:cs typeface="Arial"/>
              </a:rPr>
              <a:t>Offer and manage a ride</a:t>
            </a:r>
          </a:p>
        </p:txBody>
      </p:sp>
      <p:sp>
        <p:nvSpPr>
          <p:cNvPr id="13" name="text-58">
            <a:extLst xmlns:a="http://schemas.openxmlformats.org/drawingml/2006/main">
              <a:ext uri="{FF2B5EF4-FFF2-40B4-BE49-F238E27FC236}">
                <a16:creationId xmlns:a16="http://schemas.microsoft.com/office/drawing/2014/main" id="{B4CCE641-2994-41E2-B2DE-A56E75CA4F3E}"/>
              </a:ext>
            </a:extLst>
          </p:cNvPr>
          <p:cNvSpPr>
            <a:spLocks xmlns:a="http://schemas.openxmlformats.org/drawingml/2006/main" noGrp="1"/>
          </p:cNvSpPr>
          <p:nvPr/>
        </p:nvSpPr>
        <p:spPr>
          <a:xfrm xmlns:a="http://schemas.openxmlformats.org/drawingml/2006/main">
            <a:off x="6524625" y="267652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Ride offers</a:t>
            </a:r>
          </a:p>
        </p:txBody>
      </p:sp>
      <p:sp>
        <p:nvSpPr>
          <p:cNvPr id="14" name="text-59">
            <a:extLst xmlns:a="http://schemas.openxmlformats.org/drawingml/2006/main">
              <a:ext uri="{FF2B5EF4-FFF2-40B4-BE49-F238E27FC236}">
                <a16:creationId xmlns:a16="http://schemas.microsoft.com/office/drawing/2014/main" id="{F6F6E68C-436A-46E4-BDD5-3B75309D427A}"/>
              </a:ext>
            </a:extLst>
          </p:cNvPr>
          <p:cNvSpPr>
            <a:spLocks xmlns:a="http://schemas.openxmlformats.org/drawingml/2006/main" noGrp="1"/>
          </p:cNvSpPr>
          <p:nvPr/>
        </p:nvSpPr>
        <p:spPr>
          <a:xfrm xmlns:a="http://schemas.openxmlformats.org/drawingml/2006/main">
            <a:off x="6524625" y="3105150"/>
            <a:ext cx="4905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Set the route, vehicle, capacity and total journey cost.</a:t>
            </a:r>
          </a:p>
        </p:txBody>
      </p:sp>
      <p:sp>
        <p:nvSpPr>
          <p:cNvPr id="15" name="text-60">
            <a:extLst xmlns:a="http://schemas.openxmlformats.org/drawingml/2006/main">
              <a:ext uri="{FF2B5EF4-FFF2-40B4-BE49-F238E27FC236}">
                <a16:creationId xmlns:a16="http://schemas.microsoft.com/office/drawing/2014/main" id="{70ACB043-A839-4909-8767-206924A1DE99}"/>
              </a:ext>
            </a:extLst>
          </p:cNvPr>
          <p:cNvSpPr>
            <a:spLocks xmlns:a="http://schemas.openxmlformats.org/drawingml/2006/main" noGrp="1"/>
          </p:cNvSpPr>
          <p:nvPr/>
        </p:nvSpPr>
        <p:spPr>
          <a:xfrm xmlns:a="http://schemas.openxmlformats.org/drawingml/2006/main">
            <a:off x="6524625" y="376237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Weekday schedules</a:t>
            </a:r>
          </a:p>
        </p:txBody>
      </p:sp>
      <p:sp>
        <p:nvSpPr>
          <p:cNvPr id="16" name="text-61">
            <a:extLst xmlns:a="http://schemas.openxmlformats.org/drawingml/2006/main">
              <a:ext uri="{FF2B5EF4-FFF2-40B4-BE49-F238E27FC236}">
                <a16:creationId xmlns:a16="http://schemas.microsoft.com/office/drawing/2014/main" id="{FFCA420F-2236-46DF-9719-4C8FD86A512E}"/>
              </a:ext>
            </a:extLst>
          </p:cNvPr>
          <p:cNvSpPr>
            <a:spLocks xmlns:a="http://schemas.openxmlformats.org/drawingml/2006/main" noGrp="1"/>
          </p:cNvSpPr>
          <p:nvPr/>
        </p:nvSpPr>
        <p:spPr>
          <a:xfrm xmlns:a="http://schemas.openxmlformats.org/drawingml/2006/main">
            <a:off x="6524625" y="4191000"/>
            <a:ext cx="4905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Repeat a commute on selected weekdays until an end date.</a:t>
            </a:r>
          </a:p>
        </p:txBody>
      </p:sp>
      <p:sp>
        <p:nvSpPr>
          <p:cNvPr id="17" name="text-62">
            <a:extLst xmlns:a="http://schemas.openxmlformats.org/drawingml/2006/main">
              <a:ext uri="{FF2B5EF4-FFF2-40B4-BE49-F238E27FC236}">
                <a16:creationId xmlns:a16="http://schemas.microsoft.com/office/drawing/2014/main" id="{CA3179CB-C59D-4888-9A87-26520DF7E3C6}"/>
              </a:ext>
            </a:extLst>
          </p:cNvPr>
          <p:cNvSpPr>
            <a:spLocks xmlns:a="http://schemas.openxmlformats.org/drawingml/2006/main" noGrp="1"/>
          </p:cNvSpPr>
          <p:nvPr/>
        </p:nvSpPr>
        <p:spPr>
          <a:xfrm xmlns:a="http://schemas.openxmlformats.org/drawingml/2006/main">
            <a:off x="6524625" y="484822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My rides</a:t>
            </a:r>
          </a:p>
        </p:txBody>
      </p:sp>
      <p:sp>
        <p:nvSpPr>
          <p:cNvPr id="18" name="text-63">
            <a:extLst xmlns:a="http://schemas.openxmlformats.org/drawingml/2006/main">
              <a:ext uri="{FF2B5EF4-FFF2-40B4-BE49-F238E27FC236}">
                <a16:creationId xmlns:a16="http://schemas.microsoft.com/office/drawing/2014/main" id="{BC9591B6-365A-4E6B-B40A-70C59E3FA1C9}"/>
              </a:ext>
            </a:extLst>
          </p:cNvPr>
          <p:cNvSpPr>
            <a:spLocks xmlns:a="http://schemas.openxmlformats.org/drawingml/2006/main" noGrp="1"/>
          </p:cNvSpPr>
          <p:nvPr/>
        </p:nvSpPr>
        <p:spPr>
          <a:xfrm xmlns:a="http://schemas.openxmlformats.org/drawingml/2006/main">
            <a:off x="6524625" y="5276850"/>
            <a:ext cx="4905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Review joined or offered rides and cancel when plans change.</a:t>
            </a:r>
          </a:p>
        </p:txBody>
      </p:sp>
    </p:spTree>
    <p:extLst>
      <p:ext uri="{BB962C8B-B14F-4D97-AF65-F5344CB8AC3E}">
        <p14:creationId xmlns:p14="http://schemas.microsoft.com/office/powerpoint/2010/main" val="1872006849"/>
      </p:ext>
    </p:extLst>
  </p:cSld>
</p:sld>
</file>

<file path=ppt/slides/slide6.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21" name="text-64">
            <a:extLst xmlns:a="http://schemas.openxmlformats.org/drawingml/2006/main">
              <a:ext uri="{FF2B5EF4-FFF2-40B4-BE49-F238E27FC236}">
                <a16:creationId xmlns:a16="http://schemas.microsoft.com/office/drawing/2014/main" id="{0703909A-0819-41EB-A5A5-FED03226A4E7}"/>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76B4D"/>
                </a:solidFill>
                <a:latin typeface="Arial"/>
                <a:ea typeface="Arial"/>
                <a:cs typeface="Arial"/>
              </a:defRPr>
            </a:pPr>
            <a:r>
              <a:rPr sz="1275" b="1">
                <a:solidFill>
                  <a:srgbClr val="076B4D"/>
                </a:solidFill>
                <a:latin typeface="Arial"/>
                <a:ea typeface="Arial"/>
                <a:cs typeface="Arial"/>
              </a:rPr>
              <a:t>USER WORKFLOW</a:t>
            </a:r>
          </a:p>
        </p:txBody>
      </p:sp>
      <p:sp>
        <p:nvSpPr>
          <p:cNvPr id="2" name="text-65">
            <a:extLst xmlns:a="http://schemas.openxmlformats.org/drawingml/2006/main">
              <a:ext uri="{FF2B5EF4-FFF2-40B4-BE49-F238E27FC236}">
                <a16:creationId xmlns:a16="http://schemas.microsoft.com/office/drawing/2014/main" id="{DDC9C869-E682-4C15-B288-2367369499DB}"/>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6382C"/>
                </a:solidFill>
                <a:latin typeface="Arial"/>
                <a:ea typeface="Arial"/>
                <a:cs typeface="Arial"/>
              </a:defRPr>
            </a:pPr>
            <a:r>
              <a:rPr sz="3300" b="1">
                <a:solidFill>
                  <a:srgbClr val="16382C"/>
                </a:solidFill>
                <a:latin typeface="Arial"/>
                <a:ea typeface="Arial"/>
                <a:cs typeface="Arial"/>
              </a:rPr>
              <a:t>How a shared journey works</a:t>
            </a:r>
          </a:p>
        </p:txBody>
      </p:sp>
      <p:sp>
        <p:nvSpPr>
          <p:cNvPr id="3" name="text-66">
            <a:extLst xmlns:a="http://schemas.openxmlformats.org/drawingml/2006/main">
              <a:ext uri="{FF2B5EF4-FFF2-40B4-BE49-F238E27FC236}">
                <a16:creationId xmlns:a16="http://schemas.microsoft.com/office/drawing/2014/main" id="{6F9C3FF6-D11E-4249-B74C-977023411199}"/>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ShareCommute</a:t>
            </a:r>
          </a:p>
        </p:txBody>
      </p:sp>
      <p:sp>
        <p:nvSpPr>
          <p:cNvPr id="4" name="text-67">
            <a:extLst xmlns:a="http://schemas.openxmlformats.org/drawingml/2006/main">
              <a:ext uri="{FF2B5EF4-FFF2-40B4-BE49-F238E27FC236}">
                <a16:creationId xmlns:a16="http://schemas.microsoft.com/office/drawing/2014/main" id="{F0E2AF12-4B8B-41A0-8DA8-6E5203B8725A}"/>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66C60"/>
                </a:solidFill>
                <a:latin typeface="Arial"/>
                <a:ea typeface="Arial"/>
                <a:cs typeface="Arial"/>
              </a:defRPr>
            </a:pPr>
            <a:r>
              <a:rPr sz="1125" b="0">
                <a:solidFill>
                  <a:srgbClr val="566C60"/>
                </a:solidFill>
                <a:latin typeface="Arial"/>
                <a:ea typeface="Arial"/>
                <a:cs typeface="Arial"/>
              </a:rPr>
              <a:t>06</a:t>
            </a:r>
          </a:p>
        </p:txBody>
      </p:sp>
      <p:sp>
        <p:nvSpPr>
          <p:cNvPr id="5" name="text-68">
            <a:extLst xmlns:a="http://schemas.openxmlformats.org/drawingml/2006/main">
              <a:ext uri="{FF2B5EF4-FFF2-40B4-BE49-F238E27FC236}">
                <a16:creationId xmlns:a16="http://schemas.microsoft.com/office/drawing/2014/main" id="{98D147EC-B9E1-417F-A329-C0FC86138FA1}"/>
              </a:ext>
            </a:extLst>
          </p:cNvPr>
          <p:cNvSpPr>
            <a:spLocks xmlns:a="http://schemas.openxmlformats.org/drawingml/2006/main" noGrp="1"/>
          </p:cNvSpPr>
          <p:nvPr/>
        </p:nvSpPr>
        <p:spPr>
          <a:xfrm xmlns:a="http://schemas.openxmlformats.org/drawingml/2006/main">
            <a:off x="609600" y="2324100"/>
            <a:ext cx="1981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1">
                <a:solidFill>
                  <a:srgbClr val="076B4D"/>
                </a:solidFill>
                <a:latin typeface="Arial"/>
                <a:ea typeface="Arial"/>
                <a:cs typeface="Arial"/>
              </a:defRPr>
            </a:pPr>
            <a:r>
              <a:rPr sz="4650" b="1">
                <a:solidFill>
                  <a:srgbClr val="076B4D"/>
                </a:solidFill>
                <a:latin typeface="Arial"/>
                <a:ea typeface="Arial"/>
                <a:cs typeface="Arial"/>
              </a:rPr>
              <a:t>01</a:t>
            </a:r>
          </a:p>
        </p:txBody>
      </p:sp>
      <p:sp>
        <p:nvSpPr>
          <p:cNvPr id="6" name="text-69">
            <a:extLst xmlns:a="http://schemas.openxmlformats.org/drawingml/2006/main">
              <a:ext uri="{FF2B5EF4-FFF2-40B4-BE49-F238E27FC236}">
                <a16:creationId xmlns:a16="http://schemas.microsoft.com/office/drawing/2014/main" id="{0E50BBF3-54DC-4FC1-8231-D4C6E6B5E10C}"/>
              </a:ext>
            </a:extLst>
          </p:cNvPr>
          <p:cNvSpPr>
            <a:spLocks xmlns:a="http://schemas.openxmlformats.org/drawingml/2006/main" noGrp="1"/>
          </p:cNvSpPr>
          <p:nvPr/>
        </p:nvSpPr>
        <p:spPr>
          <a:xfrm xmlns:a="http://schemas.openxmlformats.org/drawingml/2006/main">
            <a:off x="609600" y="3476625"/>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382C"/>
                </a:solidFill>
                <a:latin typeface="Arial"/>
                <a:ea typeface="Arial"/>
                <a:cs typeface="Arial"/>
              </a:defRPr>
            </a:pPr>
            <a:r>
              <a:rPr sz="1950" b="1">
                <a:solidFill>
                  <a:srgbClr val="16382C"/>
                </a:solidFill>
                <a:latin typeface="Arial"/>
                <a:ea typeface="Arial"/>
                <a:cs typeface="Arial"/>
              </a:rPr>
              <a:t>Sign in</a:t>
            </a:r>
          </a:p>
        </p:txBody>
      </p:sp>
      <p:sp>
        <p:nvSpPr>
          <p:cNvPr id="7" name="text-70">
            <a:extLst xmlns:a="http://schemas.openxmlformats.org/drawingml/2006/main">
              <a:ext uri="{FF2B5EF4-FFF2-40B4-BE49-F238E27FC236}">
                <a16:creationId xmlns:a16="http://schemas.microsoft.com/office/drawing/2014/main" id="{2B06E686-B359-470C-9E8F-740DCA13E86D}"/>
              </a:ext>
            </a:extLst>
          </p:cNvPr>
          <p:cNvSpPr>
            <a:spLocks xmlns:a="http://schemas.openxmlformats.org/drawingml/2006/main" noGrp="1"/>
          </p:cNvSpPr>
          <p:nvPr/>
        </p:nvSpPr>
        <p:spPr>
          <a:xfrm xmlns:a="http://schemas.openxmlformats.org/drawingml/2006/main">
            <a:off x="609600" y="4200525"/>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Use a campus email</a:t>
            </a:r>
          </a:p>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and enter a code.</a:t>
            </a:r>
          </a:p>
        </p:txBody>
      </p:sp>
      <p:sp>
        <p:nvSpPr>
          <p:cNvPr id="8" name="text-71">
            <a:extLst xmlns:a="http://schemas.openxmlformats.org/drawingml/2006/main">
              <a:ext uri="{FF2B5EF4-FFF2-40B4-BE49-F238E27FC236}">
                <a16:creationId xmlns:a16="http://schemas.microsoft.com/office/drawing/2014/main" id="{BC1CCC13-D63C-42A7-B936-FA3AB8222252}"/>
              </a:ext>
            </a:extLst>
          </p:cNvPr>
          <p:cNvSpPr>
            <a:spLocks xmlns:a="http://schemas.openxmlformats.org/drawingml/2006/main" noGrp="1"/>
          </p:cNvSpPr>
          <p:nvPr/>
        </p:nvSpPr>
        <p:spPr>
          <a:xfrm xmlns:a="http://schemas.openxmlformats.org/drawingml/2006/main">
            <a:off x="2857500" y="2324100"/>
            <a:ext cx="1981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1">
                <a:solidFill>
                  <a:srgbClr val="076B4D"/>
                </a:solidFill>
                <a:latin typeface="Arial"/>
                <a:ea typeface="Arial"/>
                <a:cs typeface="Arial"/>
              </a:defRPr>
            </a:pPr>
            <a:r>
              <a:rPr sz="4650" b="1">
                <a:solidFill>
                  <a:srgbClr val="076B4D"/>
                </a:solidFill>
                <a:latin typeface="Arial"/>
                <a:ea typeface="Arial"/>
                <a:cs typeface="Arial"/>
              </a:rPr>
              <a:t>02</a:t>
            </a:r>
          </a:p>
        </p:txBody>
      </p:sp>
      <p:sp>
        <p:nvSpPr>
          <p:cNvPr id="9" name="text-72">
            <a:extLst xmlns:a="http://schemas.openxmlformats.org/drawingml/2006/main">
              <a:ext uri="{FF2B5EF4-FFF2-40B4-BE49-F238E27FC236}">
                <a16:creationId xmlns:a16="http://schemas.microsoft.com/office/drawing/2014/main" id="{9353CBB1-9C17-44DB-A79A-95B4AD1641D2}"/>
              </a:ext>
            </a:extLst>
          </p:cNvPr>
          <p:cNvSpPr>
            <a:spLocks xmlns:a="http://schemas.openxmlformats.org/drawingml/2006/main" noGrp="1"/>
          </p:cNvSpPr>
          <p:nvPr/>
        </p:nvSpPr>
        <p:spPr>
          <a:xfrm xmlns:a="http://schemas.openxmlformats.org/drawingml/2006/main">
            <a:off x="2857500" y="3476625"/>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382C"/>
                </a:solidFill>
                <a:latin typeface="Arial"/>
                <a:ea typeface="Arial"/>
                <a:cs typeface="Arial"/>
              </a:defRPr>
            </a:pPr>
            <a:r>
              <a:rPr sz="1950" b="1">
                <a:solidFill>
                  <a:srgbClr val="16382C"/>
                </a:solidFill>
                <a:latin typeface="Arial"/>
                <a:ea typeface="Arial"/>
                <a:cs typeface="Arial"/>
              </a:rPr>
              <a:t>Find a ride</a:t>
            </a:r>
          </a:p>
        </p:txBody>
      </p:sp>
      <p:sp>
        <p:nvSpPr>
          <p:cNvPr id="10" name="text-73">
            <a:extLst xmlns:a="http://schemas.openxmlformats.org/drawingml/2006/main">
              <a:ext uri="{FF2B5EF4-FFF2-40B4-BE49-F238E27FC236}">
                <a16:creationId xmlns:a16="http://schemas.microsoft.com/office/drawing/2014/main" id="{74171D6E-1FEE-4509-98EE-6978A0C5D4C0}"/>
              </a:ext>
            </a:extLst>
          </p:cNvPr>
          <p:cNvSpPr>
            <a:spLocks xmlns:a="http://schemas.openxmlformats.org/drawingml/2006/main" noGrp="1"/>
          </p:cNvSpPr>
          <p:nvPr/>
        </p:nvSpPr>
        <p:spPr>
          <a:xfrm xmlns:a="http://schemas.openxmlformats.org/drawingml/2006/main">
            <a:off x="2857500" y="4200525"/>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Choose a route, date</a:t>
            </a:r>
          </a:p>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and departure window.</a:t>
            </a:r>
          </a:p>
        </p:txBody>
      </p:sp>
      <p:sp>
        <p:nvSpPr>
          <p:cNvPr id="11" name="text-74">
            <a:extLst xmlns:a="http://schemas.openxmlformats.org/drawingml/2006/main">
              <a:ext uri="{FF2B5EF4-FFF2-40B4-BE49-F238E27FC236}">
                <a16:creationId xmlns:a16="http://schemas.microsoft.com/office/drawing/2014/main" id="{CEF3E8A8-0B6E-4E08-9A8E-7C0CE25FDF91}"/>
              </a:ext>
            </a:extLst>
          </p:cNvPr>
          <p:cNvSpPr>
            <a:spLocks xmlns:a="http://schemas.openxmlformats.org/drawingml/2006/main" noGrp="1"/>
          </p:cNvSpPr>
          <p:nvPr/>
        </p:nvSpPr>
        <p:spPr>
          <a:xfrm xmlns:a="http://schemas.openxmlformats.org/drawingml/2006/main">
            <a:off x="5105400" y="2324100"/>
            <a:ext cx="1981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1">
                <a:solidFill>
                  <a:srgbClr val="076B4D"/>
                </a:solidFill>
                <a:latin typeface="Arial"/>
                <a:ea typeface="Arial"/>
                <a:cs typeface="Arial"/>
              </a:defRPr>
            </a:pPr>
            <a:r>
              <a:rPr sz="4650" b="1">
                <a:solidFill>
                  <a:srgbClr val="076B4D"/>
                </a:solidFill>
                <a:latin typeface="Arial"/>
                <a:ea typeface="Arial"/>
                <a:cs typeface="Arial"/>
              </a:rPr>
              <a:t>03</a:t>
            </a:r>
          </a:p>
        </p:txBody>
      </p:sp>
      <p:sp>
        <p:nvSpPr>
          <p:cNvPr id="12" name="text-75">
            <a:extLst xmlns:a="http://schemas.openxmlformats.org/drawingml/2006/main">
              <a:ext uri="{FF2B5EF4-FFF2-40B4-BE49-F238E27FC236}">
                <a16:creationId xmlns:a16="http://schemas.microsoft.com/office/drawing/2014/main" id="{5E50B725-AE84-4110-A3F0-24F4C9EE259A}"/>
              </a:ext>
            </a:extLst>
          </p:cNvPr>
          <p:cNvSpPr>
            <a:spLocks xmlns:a="http://schemas.openxmlformats.org/drawingml/2006/main" noGrp="1"/>
          </p:cNvSpPr>
          <p:nvPr/>
        </p:nvSpPr>
        <p:spPr>
          <a:xfrm xmlns:a="http://schemas.openxmlformats.org/drawingml/2006/main">
            <a:off x="5105400" y="3476625"/>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382C"/>
                </a:solidFill>
                <a:latin typeface="Arial"/>
                <a:ea typeface="Arial"/>
                <a:cs typeface="Arial"/>
              </a:defRPr>
            </a:pPr>
            <a:r>
              <a:rPr sz="1950" b="1">
                <a:solidFill>
                  <a:srgbClr val="16382C"/>
                </a:solidFill>
                <a:latin typeface="Arial"/>
                <a:ea typeface="Arial"/>
                <a:cs typeface="Arial"/>
              </a:rPr>
              <a:t>Review details</a:t>
            </a:r>
          </a:p>
        </p:txBody>
      </p:sp>
      <p:sp>
        <p:nvSpPr>
          <p:cNvPr id="13" name="text-76">
            <a:extLst xmlns:a="http://schemas.openxmlformats.org/drawingml/2006/main">
              <a:ext uri="{FF2B5EF4-FFF2-40B4-BE49-F238E27FC236}">
                <a16:creationId xmlns:a16="http://schemas.microsoft.com/office/drawing/2014/main" id="{08D1022C-2B47-4E3C-9668-065A6F4D4A73}"/>
              </a:ext>
            </a:extLst>
          </p:cNvPr>
          <p:cNvSpPr>
            <a:spLocks xmlns:a="http://schemas.openxmlformats.org/drawingml/2006/main" noGrp="1"/>
          </p:cNvSpPr>
          <p:nvPr/>
        </p:nvSpPr>
        <p:spPr>
          <a:xfrm xmlns:a="http://schemas.openxmlformats.org/drawingml/2006/main">
            <a:off x="5105400" y="4200525"/>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Check the host, seats,</a:t>
            </a:r>
          </a:p>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meeting point and cost.</a:t>
            </a:r>
          </a:p>
        </p:txBody>
      </p:sp>
      <p:sp>
        <p:nvSpPr>
          <p:cNvPr id="14" name="text-77">
            <a:extLst xmlns:a="http://schemas.openxmlformats.org/drawingml/2006/main">
              <a:ext uri="{FF2B5EF4-FFF2-40B4-BE49-F238E27FC236}">
                <a16:creationId xmlns:a16="http://schemas.microsoft.com/office/drawing/2014/main" id="{B1893414-21E6-45E8-8944-C8345ED829D8}"/>
              </a:ext>
            </a:extLst>
          </p:cNvPr>
          <p:cNvSpPr>
            <a:spLocks xmlns:a="http://schemas.openxmlformats.org/drawingml/2006/main" noGrp="1"/>
          </p:cNvSpPr>
          <p:nvPr/>
        </p:nvSpPr>
        <p:spPr>
          <a:xfrm xmlns:a="http://schemas.openxmlformats.org/drawingml/2006/main">
            <a:off x="7353300" y="2324100"/>
            <a:ext cx="1981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1">
                <a:solidFill>
                  <a:srgbClr val="076B4D"/>
                </a:solidFill>
                <a:latin typeface="Arial"/>
                <a:ea typeface="Arial"/>
                <a:cs typeface="Arial"/>
              </a:defRPr>
            </a:pPr>
            <a:r>
              <a:rPr sz="4650" b="1">
                <a:solidFill>
                  <a:srgbClr val="076B4D"/>
                </a:solidFill>
                <a:latin typeface="Arial"/>
                <a:ea typeface="Arial"/>
                <a:cs typeface="Arial"/>
              </a:rPr>
              <a:t>04</a:t>
            </a:r>
          </a:p>
        </p:txBody>
      </p:sp>
      <p:sp>
        <p:nvSpPr>
          <p:cNvPr id="15" name="text-78">
            <a:extLst xmlns:a="http://schemas.openxmlformats.org/drawingml/2006/main">
              <a:ext uri="{FF2B5EF4-FFF2-40B4-BE49-F238E27FC236}">
                <a16:creationId xmlns:a16="http://schemas.microsoft.com/office/drawing/2014/main" id="{96D21D28-AC66-47D3-8BD7-D5EA2D3C3476}"/>
              </a:ext>
            </a:extLst>
          </p:cNvPr>
          <p:cNvSpPr>
            <a:spLocks xmlns:a="http://schemas.openxmlformats.org/drawingml/2006/main" noGrp="1"/>
          </p:cNvSpPr>
          <p:nvPr/>
        </p:nvSpPr>
        <p:spPr>
          <a:xfrm xmlns:a="http://schemas.openxmlformats.org/drawingml/2006/main">
            <a:off x="7353300" y="3476625"/>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382C"/>
                </a:solidFill>
                <a:latin typeface="Arial"/>
                <a:ea typeface="Arial"/>
                <a:cs typeface="Arial"/>
              </a:defRPr>
            </a:pPr>
            <a:r>
              <a:rPr sz="1950" b="1">
                <a:solidFill>
                  <a:srgbClr val="16382C"/>
                </a:solidFill>
                <a:latin typeface="Arial"/>
                <a:ea typeface="Arial"/>
                <a:cs typeface="Arial"/>
              </a:rPr>
              <a:t>Reserve seats</a:t>
            </a:r>
          </a:p>
        </p:txBody>
      </p:sp>
      <p:sp>
        <p:nvSpPr>
          <p:cNvPr id="16" name="text-79">
            <a:extLst xmlns:a="http://schemas.openxmlformats.org/drawingml/2006/main">
              <a:ext uri="{FF2B5EF4-FFF2-40B4-BE49-F238E27FC236}">
                <a16:creationId xmlns:a16="http://schemas.microsoft.com/office/drawing/2014/main" id="{FF65F020-6CE8-4792-AFD3-8D9BED7D66D2}"/>
              </a:ext>
            </a:extLst>
          </p:cNvPr>
          <p:cNvSpPr>
            <a:spLocks xmlns:a="http://schemas.openxmlformats.org/drawingml/2006/main" noGrp="1"/>
          </p:cNvSpPr>
          <p:nvPr/>
        </p:nvSpPr>
        <p:spPr>
          <a:xfrm xmlns:a="http://schemas.openxmlformats.org/drawingml/2006/main">
            <a:off x="7353300" y="4200525"/>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Confirm the booking.</a:t>
            </a:r>
          </a:p>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Availability updates.</a:t>
            </a:r>
          </a:p>
        </p:txBody>
      </p:sp>
      <p:sp>
        <p:nvSpPr>
          <p:cNvPr id="17" name="text-80">
            <a:extLst xmlns:a="http://schemas.openxmlformats.org/drawingml/2006/main">
              <a:ext uri="{FF2B5EF4-FFF2-40B4-BE49-F238E27FC236}">
                <a16:creationId xmlns:a16="http://schemas.microsoft.com/office/drawing/2014/main" id="{0D195BC3-6205-435F-B36F-66799DADDFED}"/>
              </a:ext>
            </a:extLst>
          </p:cNvPr>
          <p:cNvSpPr>
            <a:spLocks xmlns:a="http://schemas.openxmlformats.org/drawingml/2006/main" noGrp="1"/>
          </p:cNvSpPr>
          <p:nvPr/>
        </p:nvSpPr>
        <p:spPr>
          <a:xfrm xmlns:a="http://schemas.openxmlformats.org/drawingml/2006/main">
            <a:off x="9601200" y="2324100"/>
            <a:ext cx="1981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1">
                <a:solidFill>
                  <a:srgbClr val="076B4D"/>
                </a:solidFill>
                <a:latin typeface="Arial"/>
                <a:ea typeface="Arial"/>
                <a:cs typeface="Arial"/>
              </a:defRPr>
            </a:pPr>
            <a:r>
              <a:rPr sz="4650" b="1">
                <a:solidFill>
                  <a:srgbClr val="076B4D"/>
                </a:solidFill>
                <a:latin typeface="Arial"/>
                <a:ea typeface="Arial"/>
                <a:cs typeface="Arial"/>
              </a:rPr>
              <a:t>05</a:t>
            </a:r>
          </a:p>
        </p:txBody>
      </p:sp>
      <p:sp>
        <p:nvSpPr>
          <p:cNvPr id="18" name="text-81">
            <a:extLst xmlns:a="http://schemas.openxmlformats.org/drawingml/2006/main">
              <a:ext uri="{FF2B5EF4-FFF2-40B4-BE49-F238E27FC236}">
                <a16:creationId xmlns:a16="http://schemas.microsoft.com/office/drawing/2014/main" id="{BCFE80BD-BFCC-4CF0-B504-01766B46DD75}"/>
              </a:ext>
            </a:extLst>
          </p:cNvPr>
          <p:cNvSpPr>
            <a:spLocks xmlns:a="http://schemas.openxmlformats.org/drawingml/2006/main" noGrp="1"/>
          </p:cNvSpPr>
          <p:nvPr/>
        </p:nvSpPr>
        <p:spPr>
          <a:xfrm xmlns:a="http://schemas.openxmlformats.org/drawingml/2006/main">
            <a:off x="9601200" y="3476625"/>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382C"/>
                </a:solidFill>
                <a:latin typeface="Arial"/>
                <a:ea typeface="Arial"/>
                <a:cs typeface="Arial"/>
              </a:defRPr>
            </a:pPr>
            <a:r>
              <a:rPr sz="1950" b="1">
                <a:solidFill>
                  <a:srgbClr val="16382C"/>
                </a:solidFill>
                <a:latin typeface="Arial"/>
                <a:ea typeface="Arial"/>
                <a:cs typeface="Arial"/>
              </a:rPr>
              <a:t>Manage the ride</a:t>
            </a:r>
          </a:p>
        </p:txBody>
      </p:sp>
      <p:sp>
        <p:nvSpPr>
          <p:cNvPr id="19" name="text-82">
            <a:extLst xmlns:a="http://schemas.openxmlformats.org/drawingml/2006/main">
              <a:ext uri="{FF2B5EF4-FFF2-40B4-BE49-F238E27FC236}">
                <a16:creationId xmlns:a16="http://schemas.microsoft.com/office/drawing/2014/main" id="{B143514B-C041-4678-81D4-2F2D5B572FBF}"/>
              </a:ext>
            </a:extLst>
          </p:cNvPr>
          <p:cNvSpPr>
            <a:spLocks xmlns:a="http://schemas.openxmlformats.org/drawingml/2006/main" noGrp="1"/>
          </p:cNvSpPr>
          <p:nvPr/>
        </p:nvSpPr>
        <p:spPr>
          <a:xfrm xmlns:a="http://schemas.openxmlformats.org/drawingml/2006/main">
            <a:off x="9601200" y="4200525"/>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View the booking or</a:t>
            </a:r>
          </a:p>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cancel in My rides.</a:t>
            </a:r>
          </a:p>
        </p:txBody>
      </p:sp>
      <p:sp>
        <p:nvSpPr>
          <p:cNvPr id="20" name="text-83">
            <a:extLst xmlns:a="http://schemas.openxmlformats.org/drawingml/2006/main">
              <a:ext uri="{FF2B5EF4-FFF2-40B4-BE49-F238E27FC236}">
                <a16:creationId xmlns:a16="http://schemas.microsoft.com/office/drawing/2014/main" id="{DFD37E72-C122-4916-8EEB-EF3444F52BE5}"/>
              </a:ext>
            </a:extLst>
          </p:cNvPr>
          <p:cNvSpPr>
            <a:spLocks xmlns:a="http://schemas.openxmlformats.org/drawingml/2006/main" noGrp="1"/>
          </p:cNvSpPr>
          <p:nvPr/>
        </p:nvSpPr>
        <p:spPr>
          <a:xfrm xmlns:a="http://schemas.openxmlformats.org/drawingml/2006/main">
            <a:off x="609600" y="56673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66C60"/>
                </a:solidFill>
                <a:latin typeface="Arial"/>
                <a:ea typeface="Arial"/>
                <a:cs typeface="Arial"/>
              </a:defRPr>
            </a:pPr>
            <a:r>
              <a:rPr sz="1575" b="0">
                <a:solidFill>
                  <a:srgbClr val="566C60"/>
                </a:solidFill>
                <a:latin typeface="Arial"/>
                <a:ea typeface="Arial"/>
                <a:cs typeface="Arial"/>
              </a:rPr>
              <a:t>Current local mode shows a test code. Real email ownership verification requires email delivery.</a:t>
            </a:r>
          </a:p>
        </p:txBody>
      </p:sp>
    </p:spTree>
    <p:extLst>
      <p:ext uri="{BB962C8B-B14F-4D97-AF65-F5344CB8AC3E}">
        <p14:creationId xmlns:p14="http://schemas.microsoft.com/office/powerpoint/2010/main" val="236507951"/>
      </p:ext>
    </p:extLst>
  </p:cSld>
</p:sld>
</file>

<file path=ppt/slides/slide7.xml><?xml version="1.0" encoding="utf-8"?>
<p:sld xmlns:p="http://schemas.openxmlformats.org/presentationml/2006/main">
  <p:cSld>
    <p:bg>
      <p:bgPr>
        <a:solidFill xmlns:a="http://schemas.openxmlformats.org/drawingml/2006/main">
          <a:srgbClr val="063E30"/>
        </a:solidFill>
      </p:bgPr>
    </p:bg>
    <p:spTree>
      <p:nvGrpSpPr>
        <p:cNvPr id="1" name=""/>
        <p:cNvGrpSpPr/>
        <p:nvPr/>
      </p:nvGrpSpPr>
      <p:grpSpPr>
        <a:xfrm xmlns:a="http://schemas.openxmlformats.org/drawingml/2006/main"/>
      </p:grpSpPr>
      <p:sp>
        <p:nvSpPr>
          <p:cNvPr id="14" name="text-84">
            <a:extLst xmlns:a="http://schemas.openxmlformats.org/drawingml/2006/main">
              <a:ext uri="{FF2B5EF4-FFF2-40B4-BE49-F238E27FC236}">
                <a16:creationId xmlns:a16="http://schemas.microsoft.com/office/drawing/2014/main" id="{4C7DDD67-9E78-43BA-842F-7386599855FD}"/>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EEF9B"/>
                </a:solidFill>
                <a:latin typeface="Arial"/>
                <a:ea typeface="Arial"/>
                <a:cs typeface="Arial"/>
              </a:defRPr>
            </a:pPr>
            <a:r>
              <a:rPr sz="1275" b="1">
                <a:solidFill>
                  <a:srgbClr val="CEEF9B"/>
                </a:solidFill>
                <a:latin typeface="Arial"/>
                <a:ea typeface="Arial"/>
                <a:cs typeface="Arial"/>
              </a:rPr>
              <a:t>A SIMPLE EXAMPLE</a:t>
            </a:r>
          </a:p>
        </p:txBody>
      </p:sp>
      <p:sp>
        <p:nvSpPr>
          <p:cNvPr id="2" name="text-85">
            <a:extLst xmlns:a="http://schemas.openxmlformats.org/drawingml/2006/main">
              <a:ext uri="{FF2B5EF4-FFF2-40B4-BE49-F238E27FC236}">
                <a16:creationId xmlns:a16="http://schemas.microsoft.com/office/drawing/2014/main" id="{8D9D07F6-0EDB-43E9-B167-5B96B76C28E9}"/>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Transparent fare splitting</a:t>
            </a:r>
          </a:p>
        </p:txBody>
      </p:sp>
      <p:sp>
        <p:nvSpPr>
          <p:cNvPr id="3" name="text-86">
            <a:extLst xmlns:a="http://schemas.openxmlformats.org/drawingml/2006/main">
              <a:ext uri="{FF2B5EF4-FFF2-40B4-BE49-F238E27FC236}">
                <a16:creationId xmlns:a16="http://schemas.microsoft.com/office/drawing/2014/main" id="{3107AF87-7911-4F99-A887-4CBF5CC4FDC4}"/>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BAD1C1"/>
                </a:solidFill>
                <a:latin typeface="Arial"/>
                <a:ea typeface="Arial"/>
                <a:cs typeface="Arial"/>
              </a:defRPr>
            </a:pPr>
            <a:r>
              <a:rPr sz="1125" b="0">
                <a:solidFill>
                  <a:srgbClr val="BAD1C1"/>
                </a:solidFill>
                <a:latin typeface="Arial"/>
                <a:ea typeface="Arial"/>
                <a:cs typeface="Arial"/>
              </a:rPr>
              <a:t>ShareCommute</a:t>
            </a:r>
          </a:p>
        </p:txBody>
      </p:sp>
      <p:sp>
        <p:nvSpPr>
          <p:cNvPr id="4" name="text-87">
            <a:extLst xmlns:a="http://schemas.openxmlformats.org/drawingml/2006/main">
              <a:ext uri="{FF2B5EF4-FFF2-40B4-BE49-F238E27FC236}">
                <a16:creationId xmlns:a16="http://schemas.microsoft.com/office/drawing/2014/main" id="{DC7AA3D4-A981-49FE-8FDC-968D22F2D773}"/>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BAD1C1"/>
                </a:solidFill>
                <a:latin typeface="Arial"/>
                <a:ea typeface="Arial"/>
                <a:cs typeface="Arial"/>
              </a:defRPr>
            </a:pPr>
            <a:r>
              <a:rPr sz="1125" b="0">
                <a:solidFill>
                  <a:srgbClr val="BAD1C1"/>
                </a:solidFill>
                <a:latin typeface="Arial"/>
                <a:ea typeface="Arial"/>
                <a:cs typeface="Arial"/>
              </a:rPr>
              <a:t>07</a:t>
            </a:r>
          </a:p>
        </p:txBody>
      </p:sp>
      <p:sp>
        <p:nvSpPr>
          <p:cNvPr id="5" name="text-88">
            <a:extLst xmlns:a="http://schemas.openxmlformats.org/drawingml/2006/main">
              <a:ext uri="{FF2B5EF4-FFF2-40B4-BE49-F238E27FC236}">
                <a16:creationId xmlns:a16="http://schemas.microsoft.com/office/drawing/2014/main" id="{F178F641-B539-417D-81C6-0194FA3D2F1F}"/>
              </a:ext>
            </a:extLst>
          </p:cNvPr>
          <p:cNvSpPr>
            <a:spLocks xmlns:a="http://schemas.openxmlformats.org/drawingml/2006/main" noGrp="1"/>
          </p:cNvSpPr>
          <p:nvPr/>
        </p:nvSpPr>
        <p:spPr>
          <a:xfrm xmlns:a="http://schemas.openxmlformats.org/drawingml/2006/main">
            <a:off x="609600" y="2247900"/>
            <a:ext cx="342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450" b="1">
                <a:solidFill>
                  <a:srgbClr val="FFFFFF"/>
                </a:solidFill>
                <a:latin typeface="Arial"/>
                <a:ea typeface="Arial"/>
                <a:cs typeface="Arial"/>
              </a:defRPr>
            </a:pPr>
            <a:r>
              <a:rPr sz="6450" b="1">
                <a:solidFill>
                  <a:srgbClr val="FFFFFF"/>
                </a:solidFill>
                <a:latin typeface="Arial"/>
                <a:ea typeface="Arial"/>
                <a:cs typeface="Arial"/>
              </a:rPr>
              <a:t>₹180</a:t>
            </a:r>
          </a:p>
        </p:txBody>
      </p:sp>
      <p:sp>
        <p:nvSpPr>
          <p:cNvPr id="6" name="text-89">
            <a:extLst xmlns:a="http://schemas.openxmlformats.org/drawingml/2006/main">
              <a:ext uri="{FF2B5EF4-FFF2-40B4-BE49-F238E27FC236}">
                <a16:creationId xmlns:a16="http://schemas.microsoft.com/office/drawing/2014/main" id="{F2049958-B5F8-40B9-BC21-FAB637BEFB03}"/>
              </a:ext>
            </a:extLst>
          </p:cNvPr>
          <p:cNvSpPr>
            <a:spLocks xmlns:a="http://schemas.openxmlformats.org/drawingml/2006/main" noGrp="1"/>
          </p:cNvSpPr>
          <p:nvPr/>
        </p:nvSpPr>
        <p:spPr>
          <a:xfrm xmlns:a="http://schemas.openxmlformats.org/drawingml/2006/main">
            <a:off x="666750" y="35242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AD1C1"/>
                </a:solidFill>
                <a:latin typeface="Arial"/>
                <a:ea typeface="Arial"/>
                <a:cs typeface="Arial"/>
              </a:defRPr>
            </a:pPr>
            <a:r>
              <a:rPr sz="1875" b="0">
                <a:solidFill>
                  <a:srgbClr val="BAD1C1"/>
                </a:solidFill>
                <a:latin typeface="Arial"/>
                <a:ea typeface="Arial"/>
                <a:cs typeface="Arial"/>
              </a:rPr>
              <a:t>Total journey cost</a:t>
            </a:r>
          </a:p>
        </p:txBody>
      </p:sp>
      <p:sp>
        <p:nvSpPr>
          <p:cNvPr id="7" name="text-90">
            <a:extLst xmlns:a="http://schemas.openxmlformats.org/drawingml/2006/main">
              <a:ext uri="{FF2B5EF4-FFF2-40B4-BE49-F238E27FC236}">
                <a16:creationId xmlns:a16="http://schemas.microsoft.com/office/drawing/2014/main" id="{C3D6D8D4-1AF9-4F2A-9FE2-228457BD09BA}"/>
              </a:ext>
            </a:extLst>
          </p:cNvPr>
          <p:cNvSpPr>
            <a:spLocks xmlns:a="http://schemas.openxmlformats.org/drawingml/2006/main" noGrp="1"/>
          </p:cNvSpPr>
          <p:nvPr/>
        </p:nvSpPr>
        <p:spPr>
          <a:xfrm xmlns:a="http://schemas.openxmlformats.org/drawingml/2006/main">
            <a:off x="4819650" y="2247900"/>
            <a:ext cx="2000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450" b="1">
                <a:solidFill>
                  <a:srgbClr val="CEEF9B"/>
                </a:solidFill>
                <a:latin typeface="Arial"/>
                <a:ea typeface="Arial"/>
                <a:cs typeface="Arial"/>
              </a:defRPr>
            </a:pPr>
            <a:r>
              <a:rPr sz="6450" b="1">
                <a:solidFill>
                  <a:srgbClr val="CEEF9B"/>
                </a:solidFill>
                <a:latin typeface="Arial"/>
                <a:ea typeface="Arial"/>
                <a:cs typeface="Arial"/>
              </a:rPr>
              <a:t>3</a:t>
            </a:r>
          </a:p>
        </p:txBody>
      </p:sp>
      <p:sp>
        <p:nvSpPr>
          <p:cNvPr id="8" name="text-91">
            <a:extLst xmlns:a="http://schemas.openxmlformats.org/drawingml/2006/main">
              <a:ext uri="{FF2B5EF4-FFF2-40B4-BE49-F238E27FC236}">
                <a16:creationId xmlns:a16="http://schemas.microsoft.com/office/drawing/2014/main" id="{96FB93AD-E51F-48E8-A64E-913429DF4246}"/>
              </a:ext>
            </a:extLst>
          </p:cNvPr>
          <p:cNvSpPr>
            <a:spLocks xmlns:a="http://schemas.openxmlformats.org/drawingml/2006/main" noGrp="1"/>
          </p:cNvSpPr>
          <p:nvPr/>
        </p:nvSpPr>
        <p:spPr>
          <a:xfrm xmlns:a="http://schemas.openxmlformats.org/drawingml/2006/main">
            <a:off x="4867275" y="3524250"/>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AD1C1"/>
                </a:solidFill>
                <a:latin typeface="Arial"/>
                <a:ea typeface="Arial"/>
                <a:cs typeface="Arial"/>
              </a:defRPr>
            </a:pPr>
            <a:r>
              <a:rPr sz="1875" b="0">
                <a:solidFill>
                  <a:srgbClr val="BAD1C1"/>
                </a:solidFill>
                <a:latin typeface="Arial"/>
                <a:ea typeface="Arial"/>
                <a:cs typeface="Arial"/>
              </a:rPr>
              <a:t>Travellers</a:t>
            </a:r>
          </a:p>
        </p:txBody>
      </p:sp>
      <p:sp>
        <p:nvSpPr>
          <p:cNvPr id="9" name="text-92">
            <a:extLst xmlns:a="http://schemas.openxmlformats.org/drawingml/2006/main">
              <a:ext uri="{FF2B5EF4-FFF2-40B4-BE49-F238E27FC236}">
                <a16:creationId xmlns:a16="http://schemas.microsoft.com/office/drawing/2014/main" id="{D186E59E-F2CF-4E0B-AB32-A78DF5BE2AD5}"/>
              </a:ext>
            </a:extLst>
          </p:cNvPr>
          <p:cNvSpPr>
            <a:spLocks xmlns:a="http://schemas.openxmlformats.org/drawingml/2006/main" noGrp="1"/>
          </p:cNvSpPr>
          <p:nvPr/>
        </p:nvSpPr>
        <p:spPr>
          <a:xfrm xmlns:a="http://schemas.openxmlformats.org/drawingml/2006/main">
            <a:off x="4867275" y="3990975"/>
            <a:ext cx="283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BAD1C1"/>
                </a:solidFill>
                <a:latin typeface="Arial"/>
                <a:ea typeface="Arial"/>
                <a:cs typeface="Arial"/>
              </a:defRPr>
            </a:pPr>
            <a:r>
              <a:rPr sz="1725" b="0">
                <a:solidFill>
                  <a:srgbClr val="BAD1C1"/>
                </a:solidFill>
                <a:latin typeface="Arial"/>
                <a:ea typeface="Arial"/>
                <a:cs typeface="Arial"/>
              </a:rPr>
              <a:t>1 host + 2 passengers</a:t>
            </a:r>
          </a:p>
        </p:txBody>
      </p:sp>
      <p:sp>
        <p:nvSpPr>
          <p:cNvPr id="10" name="text-93">
            <a:extLst xmlns:a="http://schemas.openxmlformats.org/drawingml/2006/main">
              <a:ext uri="{FF2B5EF4-FFF2-40B4-BE49-F238E27FC236}">
                <a16:creationId xmlns:a16="http://schemas.microsoft.com/office/drawing/2014/main" id="{9BD1635C-9C5B-4367-B6F5-823F56DFD34A}"/>
              </a:ext>
            </a:extLst>
          </p:cNvPr>
          <p:cNvSpPr>
            <a:spLocks xmlns:a="http://schemas.openxmlformats.org/drawingml/2006/main" noGrp="1"/>
          </p:cNvSpPr>
          <p:nvPr/>
        </p:nvSpPr>
        <p:spPr>
          <a:xfrm xmlns:a="http://schemas.openxmlformats.org/drawingml/2006/main">
            <a:off x="8639175" y="2247900"/>
            <a:ext cx="29813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450" b="1">
                <a:solidFill>
                  <a:srgbClr val="FFFFFF"/>
                </a:solidFill>
                <a:latin typeface="Arial"/>
                <a:ea typeface="Arial"/>
                <a:cs typeface="Arial"/>
              </a:defRPr>
            </a:pPr>
            <a:r>
              <a:rPr sz="6450" b="1">
                <a:solidFill>
                  <a:srgbClr val="FFFFFF"/>
                </a:solidFill>
                <a:latin typeface="Arial"/>
                <a:ea typeface="Arial"/>
                <a:cs typeface="Arial"/>
              </a:rPr>
              <a:t>₹60</a:t>
            </a:r>
          </a:p>
        </p:txBody>
      </p:sp>
      <p:sp>
        <p:nvSpPr>
          <p:cNvPr id="11" name="text-94">
            <a:extLst xmlns:a="http://schemas.openxmlformats.org/drawingml/2006/main">
              <a:ext uri="{FF2B5EF4-FFF2-40B4-BE49-F238E27FC236}">
                <a16:creationId xmlns:a16="http://schemas.microsoft.com/office/drawing/2014/main" id="{3DDB46B2-398E-4F0C-8B74-625B89F07939}"/>
              </a:ext>
            </a:extLst>
          </p:cNvPr>
          <p:cNvSpPr>
            <a:spLocks xmlns:a="http://schemas.openxmlformats.org/drawingml/2006/main" noGrp="1"/>
          </p:cNvSpPr>
          <p:nvPr/>
        </p:nvSpPr>
        <p:spPr>
          <a:xfrm xmlns:a="http://schemas.openxmlformats.org/drawingml/2006/main">
            <a:off x="8686800" y="35242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AD1C1"/>
                </a:solidFill>
                <a:latin typeface="Arial"/>
                <a:ea typeface="Arial"/>
                <a:cs typeface="Arial"/>
              </a:defRPr>
            </a:pPr>
            <a:r>
              <a:rPr sz="1875" b="0">
                <a:solidFill>
                  <a:srgbClr val="BAD1C1"/>
                </a:solidFill>
                <a:latin typeface="Arial"/>
                <a:ea typeface="Arial"/>
                <a:cs typeface="Arial"/>
              </a:rPr>
              <a:t>Per traveller</a:t>
            </a:r>
          </a:p>
        </p:txBody>
      </p:sp>
      <p:sp>
        <p:nvSpPr>
          <p:cNvPr id="12" name="text-95">
            <a:extLst xmlns:a="http://schemas.openxmlformats.org/drawingml/2006/main">
              <a:ext uri="{FF2B5EF4-FFF2-40B4-BE49-F238E27FC236}">
                <a16:creationId xmlns:a16="http://schemas.microsoft.com/office/drawing/2014/main" id="{F43C35BB-33BE-43C5-A7E8-12C397453337}"/>
              </a:ext>
            </a:extLst>
          </p:cNvPr>
          <p:cNvSpPr>
            <a:spLocks xmlns:a="http://schemas.openxmlformats.org/drawingml/2006/main" noGrp="1"/>
          </p:cNvSpPr>
          <p:nvPr/>
        </p:nvSpPr>
        <p:spPr>
          <a:xfrm xmlns:a="http://schemas.openxmlformats.org/drawingml/2006/main">
            <a:off x="666750" y="5010150"/>
            <a:ext cx="10620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If four people share the same ₹180 journey, each person contributes ₹45.</a:t>
            </a:r>
          </a:p>
        </p:txBody>
      </p:sp>
      <p:sp>
        <p:nvSpPr>
          <p:cNvPr id="13" name="text-96">
            <a:extLst xmlns:a="http://schemas.openxmlformats.org/drawingml/2006/main">
              <a:ext uri="{FF2B5EF4-FFF2-40B4-BE49-F238E27FC236}">
                <a16:creationId xmlns:a16="http://schemas.microsoft.com/office/drawing/2014/main" id="{64815FC7-7C7C-4AE1-803D-78F939317FDB}"/>
              </a:ext>
            </a:extLst>
          </p:cNvPr>
          <p:cNvSpPr>
            <a:spLocks xmlns:a="http://schemas.openxmlformats.org/drawingml/2006/main" noGrp="1"/>
          </p:cNvSpPr>
          <p:nvPr/>
        </p:nvSpPr>
        <p:spPr>
          <a:xfrm xmlns:a="http://schemas.openxmlformats.org/drawingml/2006/main">
            <a:off x="666750" y="59055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BAD1C1"/>
                </a:solidFill>
                <a:latin typeface="Arial"/>
                <a:ea typeface="Arial"/>
                <a:cs typeface="Arial"/>
              </a:defRPr>
            </a:pPr>
            <a:r>
              <a:rPr sz="1350" b="0">
                <a:solidFill>
                  <a:srgbClr val="BAD1C1"/>
                </a:solidFill>
                <a:latin typeface="Arial"/>
                <a:ea typeface="Arial"/>
                <a:cs typeface="Arial"/>
              </a:rPr>
              <a:t>Illustrative amounts. The website records cost shares and does not collect payments.</a:t>
            </a:r>
          </a:p>
        </p:txBody>
      </p:sp>
    </p:spTree>
    <p:extLst>
      <p:ext uri="{BB962C8B-B14F-4D97-AF65-F5344CB8AC3E}">
        <p14:creationId xmlns:p14="http://schemas.microsoft.com/office/powerpoint/2010/main" val="2011336491"/>
      </p:ext>
    </p:extLst>
  </p:cSld>
</p:sld>
</file>

<file path=ppt/slides/slide8.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6" name="text-97">
            <a:extLst xmlns:a="http://schemas.openxmlformats.org/drawingml/2006/main">
              <a:ext uri="{FF2B5EF4-FFF2-40B4-BE49-F238E27FC236}">
                <a16:creationId xmlns:a16="http://schemas.microsoft.com/office/drawing/2014/main" id="{92AEBB9E-F92A-4E9F-BDED-E97BE08E91E5}"/>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76B4D"/>
                </a:solidFill>
                <a:latin typeface="Arial"/>
                <a:ea typeface="Arial"/>
                <a:cs typeface="Arial"/>
              </a:defRPr>
            </a:pPr>
            <a:r>
              <a:rPr sz="1275" b="1">
                <a:solidFill>
                  <a:srgbClr val="076B4D"/>
                </a:solidFill>
                <a:latin typeface="Arial"/>
                <a:ea typeface="Arial"/>
                <a:cs typeface="Arial"/>
              </a:rPr>
              <a:t>FOR REGULAR CAMPUS TRAVEL</a:t>
            </a:r>
          </a:p>
        </p:txBody>
      </p:sp>
      <p:sp>
        <p:nvSpPr>
          <p:cNvPr id="2" name="text-98">
            <a:extLst xmlns:a="http://schemas.openxmlformats.org/drawingml/2006/main">
              <a:ext uri="{FF2B5EF4-FFF2-40B4-BE49-F238E27FC236}">
                <a16:creationId xmlns:a16="http://schemas.microsoft.com/office/drawing/2014/main" id="{733283BD-34D8-4566-B8C6-FED81C7A6F23}"/>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6382C"/>
                </a:solidFill>
                <a:latin typeface="Arial"/>
                <a:ea typeface="Arial"/>
                <a:cs typeface="Arial"/>
              </a:defRPr>
            </a:pPr>
            <a:r>
              <a:rPr sz="3300" b="1">
                <a:solidFill>
                  <a:srgbClr val="16382C"/>
                </a:solidFill>
                <a:latin typeface="Arial"/>
                <a:ea typeface="Arial"/>
                <a:cs typeface="Arial"/>
              </a:rPr>
              <a:t>Recurring commutes and My rides</a:t>
            </a:r>
          </a:p>
        </p:txBody>
      </p:sp>
      <p:sp>
        <p:nvSpPr>
          <p:cNvPr id="3" name="text-99">
            <a:extLst xmlns:a="http://schemas.openxmlformats.org/drawingml/2006/main">
              <a:ext uri="{FF2B5EF4-FFF2-40B4-BE49-F238E27FC236}">
                <a16:creationId xmlns:a16="http://schemas.microsoft.com/office/drawing/2014/main" id="{7887CC9B-5926-4619-98D8-97AB4F7AB698}"/>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ShareCommute</a:t>
            </a:r>
          </a:p>
        </p:txBody>
      </p:sp>
      <p:sp>
        <p:nvSpPr>
          <p:cNvPr id="4" name="text-100">
            <a:extLst xmlns:a="http://schemas.openxmlformats.org/drawingml/2006/main">
              <a:ext uri="{FF2B5EF4-FFF2-40B4-BE49-F238E27FC236}">
                <a16:creationId xmlns:a16="http://schemas.microsoft.com/office/drawing/2014/main" id="{B7420368-49D6-4A7A-8849-B49A43958ACA}"/>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66C60"/>
                </a:solidFill>
                <a:latin typeface="Arial"/>
                <a:ea typeface="Arial"/>
                <a:cs typeface="Arial"/>
              </a:defRPr>
            </a:pPr>
            <a:r>
              <a:rPr sz="1125" b="0">
                <a:solidFill>
                  <a:srgbClr val="566C60"/>
                </a:solidFill>
                <a:latin typeface="Arial"/>
                <a:ea typeface="Arial"/>
                <a:cs typeface="Arial"/>
              </a:rPr>
              <a:t>08</a:t>
            </a:r>
          </a:p>
        </p:txBody>
      </p:sp>
      <p:sp>
        <p:nvSpPr>
          <p:cNvPr id="5" name="text-101">
            <a:extLst xmlns:a="http://schemas.openxmlformats.org/drawingml/2006/main">
              <a:ext uri="{FF2B5EF4-FFF2-40B4-BE49-F238E27FC236}">
                <a16:creationId xmlns:a16="http://schemas.microsoft.com/office/drawing/2014/main" id="{5400EBE0-ED79-441D-9D40-9E226BA708D3}"/>
              </a:ext>
            </a:extLst>
          </p:cNvPr>
          <p:cNvSpPr>
            <a:spLocks xmlns:a="http://schemas.openxmlformats.org/drawingml/2006/main" noGrp="1"/>
          </p:cNvSpPr>
          <p:nvPr/>
        </p:nvSpPr>
        <p:spPr>
          <a:xfrm xmlns:a="http://schemas.openxmlformats.org/drawingml/2006/main">
            <a:off x="609600" y="211455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75" b="1">
                <a:solidFill>
                  <a:srgbClr val="076B4D"/>
                </a:solidFill>
                <a:latin typeface="Arial"/>
                <a:ea typeface="Arial"/>
                <a:cs typeface="Arial"/>
              </a:defRPr>
            </a:pPr>
            <a:r>
              <a:rPr sz="2775" b="1">
                <a:solidFill>
                  <a:srgbClr val="076B4D"/>
                </a:solidFill>
                <a:latin typeface="Arial"/>
                <a:ea typeface="Arial"/>
                <a:cs typeface="Arial"/>
              </a:rPr>
              <a:t>One schedule,</a:t>
            </a:r>
          </a:p>
          <a:p xmlns:a="http://schemas.openxmlformats.org/drawingml/2006/main">
            <a:pPr algn="l">
              <a:defRPr sz="2775" b="1">
                <a:solidFill>
                  <a:srgbClr val="076B4D"/>
                </a:solidFill>
                <a:latin typeface="Arial"/>
                <a:ea typeface="Arial"/>
                <a:cs typeface="Arial"/>
              </a:defRPr>
            </a:pPr>
            <a:r>
              <a:rPr sz="2775" b="1">
                <a:solidFill>
                  <a:srgbClr val="076B4D"/>
                </a:solidFill>
                <a:latin typeface="Arial"/>
                <a:ea typeface="Arial"/>
                <a:cs typeface="Arial"/>
              </a:rPr>
              <a:t>separate daily rides</a:t>
            </a:r>
          </a:p>
        </p:txBody>
      </p:sp>
      <p:sp>
        <p:nvSpPr>
          <p:cNvPr id="6" name="text-102">
            <a:extLst xmlns:a="http://schemas.openxmlformats.org/drawingml/2006/main">
              <a:ext uri="{FF2B5EF4-FFF2-40B4-BE49-F238E27FC236}">
                <a16:creationId xmlns:a16="http://schemas.microsoft.com/office/drawing/2014/main" id="{CDECC509-BBE6-4705-93A7-8049730B0C33}"/>
              </a:ext>
            </a:extLst>
          </p:cNvPr>
          <p:cNvSpPr>
            <a:spLocks xmlns:a="http://schemas.openxmlformats.org/drawingml/2006/main" noGrp="1"/>
          </p:cNvSpPr>
          <p:nvPr/>
        </p:nvSpPr>
        <p:spPr>
          <a:xfrm xmlns:a="http://schemas.openxmlformats.org/drawingml/2006/main">
            <a:off x="609600" y="3476625"/>
            <a:ext cx="4953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6382C"/>
                </a:solidFill>
                <a:latin typeface="Arial"/>
                <a:ea typeface="Arial"/>
                <a:cs typeface="Arial"/>
              </a:defRPr>
            </a:pPr>
            <a:r>
              <a:rPr sz="2025" b="0">
                <a:solidFill>
                  <a:srgbClr val="16382C"/>
                </a:solidFill>
                <a:latin typeface="Arial"/>
                <a:ea typeface="Arial"/>
                <a:cs typeface="Arial"/>
              </a:rPr>
              <a:t>Choose the weekdays and end date. Each occurrence keeps its own departure time, seat count and bookings.</a:t>
            </a:r>
          </a:p>
        </p:txBody>
      </p:sp>
      <p:sp>
        <p:nvSpPr>
          <p:cNvPr id="7" name="text-103">
            <a:extLst xmlns:a="http://schemas.openxmlformats.org/drawingml/2006/main">
              <a:ext uri="{FF2B5EF4-FFF2-40B4-BE49-F238E27FC236}">
                <a16:creationId xmlns:a16="http://schemas.microsoft.com/office/drawing/2014/main" id="{C27E1DAE-D4C9-4747-A702-A5607656860A}"/>
              </a:ext>
            </a:extLst>
          </p:cNvPr>
          <p:cNvSpPr>
            <a:spLocks xmlns:a="http://schemas.openxmlformats.org/drawingml/2006/main" noGrp="1"/>
          </p:cNvSpPr>
          <p:nvPr/>
        </p:nvSpPr>
        <p:spPr>
          <a:xfrm xmlns:a="http://schemas.openxmlformats.org/drawingml/2006/main">
            <a:off x="609600" y="5238750"/>
            <a:ext cx="5238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Example: MIT-WPU to Shivajinagar</a:t>
            </a:r>
          </a:p>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Monday to Friday at 5:00 PM IST</a:t>
            </a:r>
          </a:p>
        </p:txBody>
      </p:sp>
      <p:sp>
        <p:nvSpPr>
          <p:cNvPr id="8" name="text-104">
            <a:extLst xmlns:a="http://schemas.openxmlformats.org/drawingml/2006/main">
              <a:ext uri="{FF2B5EF4-FFF2-40B4-BE49-F238E27FC236}">
                <a16:creationId xmlns:a16="http://schemas.microsoft.com/office/drawing/2014/main" id="{9BCFA953-F568-4E07-A095-1E5144F13ECA}"/>
              </a:ext>
            </a:extLst>
          </p:cNvPr>
          <p:cNvSpPr>
            <a:spLocks xmlns:a="http://schemas.openxmlformats.org/drawingml/2006/main" noGrp="1"/>
          </p:cNvSpPr>
          <p:nvPr/>
        </p:nvSpPr>
        <p:spPr>
          <a:xfrm xmlns:a="http://schemas.openxmlformats.org/drawingml/2006/main">
            <a:off x="6619875" y="213360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Joined rides</a:t>
            </a:r>
          </a:p>
        </p:txBody>
      </p:sp>
      <p:sp>
        <p:nvSpPr>
          <p:cNvPr id="9" name="text-105">
            <a:extLst xmlns:a="http://schemas.openxmlformats.org/drawingml/2006/main">
              <a:ext uri="{FF2B5EF4-FFF2-40B4-BE49-F238E27FC236}">
                <a16:creationId xmlns:a16="http://schemas.microsoft.com/office/drawing/2014/main" id="{B0FD29E4-9028-4767-8A6F-7D4B397CA573}"/>
              </a:ext>
            </a:extLst>
          </p:cNvPr>
          <p:cNvSpPr>
            <a:spLocks xmlns:a="http://schemas.openxmlformats.org/drawingml/2006/main" noGrp="1"/>
          </p:cNvSpPr>
          <p:nvPr/>
        </p:nvSpPr>
        <p:spPr>
          <a:xfrm xmlns:a="http://schemas.openxmlformats.org/drawingml/2006/main">
            <a:off x="6619875" y="253365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Check confirmed bookings and your current cost share.</a:t>
            </a:r>
          </a:p>
        </p:txBody>
      </p:sp>
      <p:sp>
        <p:nvSpPr>
          <p:cNvPr id="10" name="text-106">
            <a:extLst xmlns:a="http://schemas.openxmlformats.org/drawingml/2006/main">
              <a:ext uri="{FF2B5EF4-FFF2-40B4-BE49-F238E27FC236}">
                <a16:creationId xmlns:a16="http://schemas.microsoft.com/office/drawing/2014/main" id="{997C9729-8A47-445E-91C9-8687C7CAC726}"/>
              </a:ext>
            </a:extLst>
          </p:cNvPr>
          <p:cNvSpPr>
            <a:spLocks xmlns:a="http://schemas.openxmlformats.org/drawingml/2006/main" noGrp="1"/>
          </p:cNvSpPr>
          <p:nvPr/>
        </p:nvSpPr>
        <p:spPr>
          <a:xfrm xmlns:a="http://schemas.openxmlformats.org/drawingml/2006/main">
            <a:off x="6619875" y="312420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Offered rides</a:t>
            </a:r>
          </a:p>
        </p:txBody>
      </p:sp>
      <p:sp>
        <p:nvSpPr>
          <p:cNvPr id="11" name="text-107">
            <a:extLst xmlns:a="http://schemas.openxmlformats.org/drawingml/2006/main">
              <a:ext uri="{FF2B5EF4-FFF2-40B4-BE49-F238E27FC236}">
                <a16:creationId xmlns:a16="http://schemas.microsoft.com/office/drawing/2014/main" id="{707EFEDF-74C1-4B05-BBF6-780AAB8F078A}"/>
              </a:ext>
            </a:extLst>
          </p:cNvPr>
          <p:cNvSpPr>
            <a:spLocks xmlns:a="http://schemas.openxmlformats.org/drawingml/2006/main" noGrp="1"/>
          </p:cNvSpPr>
          <p:nvPr/>
        </p:nvSpPr>
        <p:spPr>
          <a:xfrm xmlns:a="http://schemas.openxmlformats.org/drawingml/2006/main">
            <a:off x="6619875" y="352425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Review available seats and confirmed co-riders.</a:t>
            </a:r>
          </a:p>
        </p:txBody>
      </p:sp>
      <p:sp>
        <p:nvSpPr>
          <p:cNvPr id="12" name="text-108">
            <a:extLst xmlns:a="http://schemas.openxmlformats.org/drawingml/2006/main">
              <a:ext uri="{FF2B5EF4-FFF2-40B4-BE49-F238E27FC236}">
                <a16:creationId xmlns:a16="http://schemas.microsoft.com/office/drawing/2014/main" id="{880480A9-C36F-4EB3-97A8-F138F7C71BA5}"/>
              </a:ext>
            </a:extLst>
          </p:cNvPr>
          <p:cNvSpPr>
            <a:spLocks xmlns:a="http://schemas.openxmlformats.org/drawingml/2006/main" noGrp="1"/>
          </p:cNvSpPr>
          <p:nvPr/>
        </p:nvSpPr>
        <p:spPr>
          <a:xfrm xmlns:a="http://schemas.openxmlformats.org/drawingml/2006/main">
            <a:off x="6619875" y="411480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Cancellation</a:t>
            </a:r>
          </a:p>
        </p:txBody>
      </p:sp>
      <p:sp>
        <p:nvSpPr>
          <p:cNvPr id="13" name="text-109">
            <a:extLst xmlns:a="http://schemas.openxmlformats.org/drawingml/2006/main">
              <a:ext uri="{FF2B5EF4-FFF2-40B4-BE49-F238E27FC236}">
                <a16:creationId xmlns:a16="http://schemas.microsoft.com/office/drawing/2014/main" id="{7A30B37F-0DC3-41F1-B05D-6259FF595C35}"/>
              </a:ext>
            </a:extLst>
          </p:cNvPr>
          <p:cNvSpPr>
            <a:spLocks xmlns:a="http://schemas.openxmlformats.org/drawingml/2006/main" noGrp="1"/>
          </p:cNvSpPr>
          <p:nvPr/>
        </p:nvSpPr>
        <p:spPr>
          <a:xfrm xmlns:a="http://schemas.openxmlformats.org/drawingml/2006/main">
            <a:off x="6619875" y="451485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Release booked seats or close an offer.</a:t>
            </a:r>
          </a:p>
        </p:txBody>
      </p:sp>
      <p:sp>
        <p:nvSpPr>
          <p:cNvPr id="14" name="text-110">
            <a:extLst xmlns:a="http://schemas.openxmlformats.org/drawingml/2006/main">
              <a:ext uri="{FF2B5EF4-FFF2-40B4-BE49-F238E27FC236}">
                <a16:creationId xmlns:a16="http://schemas.microsoft.com/office/drawing/2014/main" id="{EEECC82F-2394-43B6-BDDA-86DA6595C92B}"/>
              </a:ext>
            </a:extLst>
          </p:cNvPr>
          <p:cNvSpPr>
            <a:spLocks xmlns:a="http://schemas.openxmlformats.org/drawingml/2006/main" noGrp="1"/>
          </p:cNvSpPr>
          <p:nvPr/>
        </p:nvSpPr>
        <p:spPr>
          <a:xfrm xmlns:a="http://schemas.openxmlformats.org/drawingml/2006/main">
            <a:off x="6619875" y="510540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382C"/>
                </a:solidFill>
                <a:latin typeface="Arial"/>
                <a:ea typeface="Arial"/>
                <a:cs typeface="Arial"/>
              </a:defRPr>
            </a:pPr>
            <a:r>
              <a:rPr sz="1875" b="1">
                <a:solidFill>
                  <a:srgbClr val="16382C"/>
                </a:solidFill>
                <a:latin typeface="Arial"/>
                <a:ea typeface="Arial"/>
                <a:cs typeface="Arial"/>
              </a:rPr>
              <a:t>Stopping a schedule</a:t>
            </a:r>
          </a:p>
        </p:txBody>
      </p:sp>
      <p:sp>
        <p:nvSpPr>
          <p:cNvPr id="15" name="text-111">
            <a:extLst xmlns:a="http://schemas.openxmlformats.org/drawingml/2006/main">
              <a:ext uri="{FF2B5EF4-FFF2-40B4-BE49-F238E27FC236}">
                <a16:creationId xmlns:a16="http://schemas.microsoft.com/office/drawing/2014/main" id="{DC6A4386-FF5A-4043-B4F5-540334F30B5C}"/>
              </a:ext>
            </a:extLst>
          </p:cNvPr>
          <p:cNvSpPr>
            <a:spLocks xmlns:a="http://schemas.openxmlformats.org/drawingml/2006/main" noGrp="1"/>
          </p:cNvSpPr>
          <p:nvPr/>
        </p:nvSpPr>
        <p:spPr>
          <a:xfrm xmlns:a="http://schemas.openxmlformats.org/drawingml/2006/main">
            <a:off x="6619875" y="550545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66C60"/>
                </a:solidFill>
                <a:latin typeface="Arial"/>
                <a:ea typeface="Arial"/>
                <a:cs typeface="Arial"/>
              </a:defRPr>
            </a:pPr>
            <a:r>
              <a:rPr sz="1725" b="0">
                <a:solidFill>
                  <a:srgbClr val="566C60"/>
                </a:solidFill>
                <a:latin typeface="Arial"/>
                <a:ea typeface="Arial"/>
                <a:cs typeface="Arial"/>
              </a:rPr>
              <a:t>Cancel future occurrences while retaining past records.</a:t>
            </a:r>
          </a:p>
        </p:txBody>
      </p:sp>
    </p:spTree>
    <p:extLst>
      <p:ext uri="{BB962C8B-B14F-4D97-AF65-F5344CB8AC3E}">
        <p14:creationId xmlns:p14="http://schemas.microsoft.com/office/powerpoint/2010/main" val="1110428791"/>
      </p:ext>
    </p:extLst>
  </p:cSld>
</p:sld>
</file>

<file path=ppt/slides/slide9.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3" name="text-112">
            <a:extLst xmlns:a="http://schemas.openxmlformats.org/drawingml/2006/main">
              <a:ext uri="{FF2B5EF4-FFF2-40B4-BE49-F238E27FC236}">
                <a16:creationId xmlns:a16="http://schemas.microsoft.com/office/drawing/2014/main" id="{CEC3C226-8AB1-447A-929C-1A463B84DA1C}"/>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76B4D"/>
                </a:solidFill>
                <a:latin typeface="Arial"/>
                <a:ea typeface="Arial"/>
                <a:cs typeface="Arial"/>
              </a:defRPr>
            </a:pPr>
            <a:r>
              <a:rPr sz="1275" b="1">
                <a:solidFill>
                  <a:srgbClr val="076B4D"/>
                </a:solidFill>
                <a:latin typeface="Arial"/>
                <a:ea typeface="Arial"/>
                <a:cs typeface="Arial"/>
              </a:rPr>
              <a:t>HOW THE SYSTEM SUPPORTS USERS</a:t>
            </a:r>
          </a:p>
        </p:txBody>
      </p:sp>
      <p:sp>
        <p:nvSpPr>
          <p:cNvPr id="2" name="text-113">
            <a:extLst xmlns:a="http://schemas.openxmlformats.org/drawingml/2006/main">
              <a:ext uri="{FF2B5EF4-FFF2-40B4-BE49-F238E27FC236}">
                <a16:creationId xmlns:a16="http://schemas.microsoft.com/office/drawing/2014/main" id="{5EDD4BF1-22C6-47A4-9117-DF3EC623BC0F}"/>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6382C"/>
                </a:solidFill>
                <a:latin typeface="Arial"/>
                <a:ea typeface="Arial"/>
                <a:cs typeface="Arial"/>
              </a:defRPr>
            </a:pPr>
            <a:r>
              <a:rPr sz="3300" b="1">
                <a:solidFill>
                  <a:srgbClr val="16382C"/>
                </a:solidFill>
                <a:latin typeface="Arial"/>
                <a:ea typeface="Arial"/>
                <a:cs typeface="Arial"/>
              </a:rPr>
              <a:t>Access, privacy and reliability</a:t>
            </a:r>
          </a:p>
        </p:txBody>
      </p:sp>
      <p:sp>
        <p:nvSpPr>
          <p:cNvPr id="3" name="text-114">
            <a:extLst xmlns:a="http://schemas.openxmlformats.org/drawingml/2006/main">
              <a:ext uri="{FF2B5EF4-FFF2-40B4-BE49-F238E27FC236}">
                <a16:creationId xmlns:a16="http://schemas.microsoft.com/office/drawing/2014/main" id="{0CCA2FAE-9B64-4D9D-8952-EC4EDCC9DC95}"/>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ShareCommute</a:t>
            </a:r>
          </a:p>
        </p:txBody>
      </p:sp>
      <p:sp>
        <p:nvSpPr>
          <p:cNvPr id="4" name="text-115">
            <a:extLst xmlns:a="http://schemas.openxmlformats.org/drawingml/2006/main">
              <a:ext uri="{FF2B5EF4-FFF2-40B4-BE49-F238E27FC236}">
                <a16:creationId xmlns:a16="http://schemas.microsoft.com/office/drawing/2014/main" id="{28FD8444-2E45-47DE-850D-EE6C068BFA16}"/>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66C60"/>
                </a:solidFill>
                <a:latin typeface="Arial"/>
                <a:ea typeface="Arial"/>
                <a:cs typeface="Arial"/>
              </a:defRPr>
            </a:pPr>
            <a:r>
              <a:rPr sz="1125" b="0">
                <a:solidFill>
                  <a:srgbClr val="566C60"/>
                </a:solidFill>
                <a:latin typeface="Arial"/>
                <a:ea typeface="Arial"/>
                <a:cs typeface="Arial"/>
              </a:rPr>
              <a:t>09</a:t>
            </a:r>
          </a:p>
        </p:txBody>
      </p:sp>
      <p:sp>
        <p:nvSpPr>
          <p:cNvPr id="5" name="text-116">
            <a:extLst xmlns:a="http://schemas.openxmlformats.org/drawingml/2006/main">
              <a:ext uri="{FF2B5EF4-FFF2-40B4-BE49-F238E27FC236}">
                <a16:creationId xmlns:a16="http://schemas.microsoft.com/office/drawing/2014/main" id="{8363E6C8-86A2-4936-8CF8-5D6DB45FAE93}"/>
              </a:ext>
            </a:extLst>
          </p:cNvPr>
          <p:cNvSpPr>
            <a:spLocks xmlns:a="http://schemas.openxmlformats.org/drawingml/2006/main" noGrp="1"/>
          </p:cNvSpPr>
          <p:nvPr/>
        </p:nvSpPr>
        <p:spPr>
          <a:xfrm xmlns:a="http://schemas.openxmlformats.org/drawingml/2006/main">
            <a:off x="609600" y="1971675"/>
            <a:ext cx="3876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76B4D"/>
                </a:solidFill>
                <a:latin typeface="Arial"/>
                <a:ea typeface="Arial"/>
                <a:cs typeface="Arial"/>
              </a:defRPr>
            </a:pPr>
            <a:r>
              <a:rPr sz="2025" b="1">
                <a:solidFill>
                  <a:srgbClr val="076B4D"/>
                </a:solidFill>
                <a:latin typeface="Arial"/>
                <a:ea typeface="Arial"/>
                <a:cs typeface="Arial"/>
              </a:rPr>
              <a:t>Campus account access</a:t>
            </a:r>
          </a:p>
        </p:txBody>
      </p:sp>
      <p:sp>
        <p:nvSpPr>
          <p:cNvPr id="6" name="text-117">
            <a:extLst xmlns:a="http://schemas.openxmlformats.org/drawingml/2006/main">
              <a:ext uri="{FF2B5EF4-FFF2-40B4-BE49-F238E27FC236}">
                <a16:creationId xmlns:a16="http://schemas.microsoft.com/office/drawing/2014/main" id="{61A7D3FA-951E-4785-BABB-81378C5FDF9B}"/>
              </a:ext>
            </a:extLst>
          </p:cNvPr>
          <p:cNvSpPr>
            <a:spLocks xmlns:a="http://schemas.openxmlformats.org/drawingml/2006/main" noGrp="1"/>
          </p:cNvSpPr>
          <p:nvPr/>
        </p:nvSpPr>
        <p:spPr>
          <a:xfrm xmlns:a="http://schemas.openxmlformats.org/drawingml/2006/main">
            <a:off x="5038725" y="1990725"/>
            <a:ext cx="645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382C"/>
                </a:solidFill>
                <a:latin typeface="Arial"/>
                <a:ea typeface="Arial"/>
                <a:cs typeface="Arial"/>
              </a:defRPr>
            </a:pPr>
            <a:r>
              <a:rPr sz="1875" b="0">
                <a:solidFill>
                  <a:srgbClr val="16382C"/>
                </a:solidFill>
                <a:latin typeface="Arial"/>
                <a:ea typeface="Arial"/>
                <a:cs typeface="Arial"/>
              </a:rPr>
              <a:t>The website accepts the configured institutional email domain.</a:t>
            </a:r>
          </a:p>
        </p:txBody>
      </p:sp>
      <p:sp>
        <p:nvSpPr>
          <p:cNvPr id="7" name="text-118">
            <a:extLst xmlns:a="http://schemas.openxmlformats.org/drawingml/2006/main">
              <a:ext uri="{FF2B5EF4-FFF2-40B4-BE49-F238E27FC236}">
                <a16:creationId xmlns:a16="http://schemas.microsoft.com/office/drawing/2014/main" id="{4636D698-D580-4B19-B73D-1ADB031BCE38}"/>
              </a:ext>
            </a:extLst>
          </p:cNvPr>
          <p:cNvSpPr>
            <a:spLocks xmlns:a="http://schemas.openxmlformats.org/drawingml/2006/main" noGrp="1"/>
          </p:cNvSpPr>
          <p:nvPr/>
        </p:nvSpPr>
        <p:spPr>
          <a:xfrm xmlns:a="http://schemas.openxmlformats.org/drawingml/2006/main">
            <a:off x="609600" y="2971800"/>
            <a:ext cx="3876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76B4D"/>
                </a:solidFill>
                <a:latin typeface="Arial"/>
                <a:ea typeface="Arial"/>
                <a:cs typeface="Arial"/>
              </a:defRPr>
            </a:pPr>
            <a:r>
              <a:rPr sz="2025" b="1">
                <a:solidFill>
                  <a:srgbClr val="076B4D"/>
                </a:solidFill>
                <a:latin typeface="Arial"/>
                <a:ea typeface="Arial"/>
                <a:cs typeface="Arial"/>
              </a:rPr>
              <a:t>Protected seat capacity</a:t>
            </a:r>
          </a:p>
        </p:txBody>
      </p:sp>
      <p:sp>
        <p:nvSpPr>
          <p:cNvPr id="8" name="text-119">
            <a:extLst xmlns:a="http://schemas.openxmlformats.org/drawingml/2006/main">
              <a:ext uri="{FF2B5EF4-FFF2-40B4-BE49-F238E27FC236}">
                <a16:creationId xmlns:a16="http://schemas.microsoft.com/office/drawing/2014/main" id="{EB798512-CE63-4033-AFC9-FC40F620175B}"/>
              </a:ext>
            </a:extLst>
          </p:cNvPr>
          <p:cNvSpPr>
            <a:spLocks xmlns:a="http://schemas.openxmlformats.org/drawingml/2006/main" noGrp="1"/>
          </p:cNvSpPr>
          <p:nvPr/>
        </p:nvSpPr>
        <p:spPr>
          <a:xfrm xmlns:a="http://schemas.openxmlformats.org/drawingml/2006/main">
            <a:off x="5038725" y="2990850"/>
            <a:ext cx="645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382C"/>
                </a:solidFill>
                <a:latin typeface="Arial"/>
                <a:ea typeface="Arial"/>
                <a:cs typeface="Arial"/>
              </a:defRPr>
            </a:pPr>
            <a:r>
              <a:rPr sz="1875" b="0">
                <a:solidFill>
                  <a:srgbClr val="16382C"/>
                </a:solidFill>
                <a:latin typeface="Arial"/>
                <a:ea typeface="Arial"/>
                <a:cs typeface="Arial"/>
              </a:rPr>
              <a:t>Server checks and database transactions prevent overbooking.</a:t>
            </a:r>
          </a:p>
        </p:txBody>
      </p:sp>
      <p:sp>
        <p:nvSpPr>
          <p:cNvPr id="9" name="text-120">
            <a:extLst xmlns:a="http://schemas.openxmlformats.org/drawingml/2006/main">
              <a:ext uri="{FF2B5EF4-FFF2-40B4-BE49-F238E27FC236}">
                <a16:creationId xmlns:a16="http://schemas.microsoft.com/office/drawing/2014/main" id="{825495CF-4792-4DD6-8F22-8C0A2450F531}"/>
              </a:ext>
            </a:extLst>
          </p:cNvPr>
          <p:cNvSpPr>
            <a:spLocks xmlns:a="http://schemas.openxmlformats.org/drawingml/2006/main" noGrp="1"/>
          </p:cNvSpPr>
          <p:nvPr/>
        </p:nvSpPr>
        <p:spPr>
          <a:xfrm xmlns:a="http://schemas.openxmlformats.org/drawingml/2006/main">
            <a:off x="609600" y="3971925"/>
            <a:ext cx="3876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76B4D"/>
                </a:solidFill>
                <a:latin typeface="Arial"/>
                <a:ea typeface="Arial"/>
                <a:cs typeface="Arial"/>
              </a:defRPr>
            </a:pPr>
            <a:r>
              <a:rPr sz="2025" b="1">
                <a:solidFill>
                  <a:srgbClr val="076B4D"/>
                </a:solidFill>
                <a:latin typeface="Arial"/>
                <a:ea typeface="Arial"/>
                <a:cs typeface="Arial"/>
              </a:rPr>
              <a:t>Controlled contact sharing</a:t>
            </a:r>
          </a:p>
        </p:txBody>
      </p:sp>
      <p:sp>
        <p:nvSpPr>
          <p:cNvPr id="10" name="text-121">
            <a:extLst xmlns:a="http://schemas.openxmlformats.org/drawingml/2006/main">
              <a:ext uri="{FF2B5EF4-FFF2-40B4-BE49-F238E27FC236}">
                <a16:creationId xmlns:a16="http://schemas.microsoft.com/office/drawing/2014/main" id="{865BB819-C2C7-4C6C-AF2C-61395008629A}"/>
              </a:ext>
            </a:extLst>
          </p:cNvPr>
          <p:cNvSpPr>
            <a:spLocks xmlns:a="http://schemas.openxmlformats.org/drawingml/2006/main" noGrp="1"/>
          </p:cNvSpPr>
          <p:nvPr/>
        </p:nvSpPr>
        <p:spPr>
          <a:xfrm xmlns:a="http://schemas.openxmlformats.org/drawingml/2006/main">
            <a:off x="5038725" y="3990975"/>
            <a:ext cx="645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382C"/>
                </a:solidFill>
                <a:latin typeface="Arial"/>
                <a:ea typeface="Arial"/>
                <a:cs typeface="Arial"/>
              </a:defRPr>
            </a:pPr>
            <a:r>
              <a:rPr sz="1875" b="0">
                <a:solidFill>
                  <a:srgbClr val="16382C"/>
                </a:solidFill>
                <a:latin typeface="Arial"/>
                <a:ea typeface="Arial"/>
                <a:cs typeface="Arial"/>
              </a:rPr>
              <a:t>Confirmed riders can see the host’s email. Hosts can see their confirmed co-riders.</a:t>
            </a:r>
          </a:p>
        </p:txBody>
      </p:sp>
      <p:sp>
        <p:nvSpPr>
          <p:cNvPr id="11" name="text-122">
            <a:extLst xmlns:a="http://schemas.openxmlformats.org/drawingml/2006/main">
              <a:ext uri="{FF2B5EF4-FFF2-40B4-BE49-F238E27FC236}">
                <a16:creationId xmlns:a16="http://schemas.microsoft.com/office/drawing/2014/main" id="{5C56650C-0B9F-43F1-9FCF-6EC88801BDA1}"/>
              </a:ext>
            </a:extLst>
          </p:cNvPr>
          <p:cNvSpPr>
            <a:spLocks xmlns:a="http://schemas.openxmlformats.org/drawingml/2006/main" noGrp="1"/>
          </p:cNvSpPr>
          <p:nvPr/>
        </p:nvSpPr>
        <p:spPr>
          <a:xfrm xmlns:a="http://schemas.openxmlformats.org/drawingml/2006/main">
            <a:off x="609600" y="4972050"/>
            <a:ext cx="3876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76B4D"/>
                </a:solidFill>
                <a:latin typeface="Arial"/>
                <a:ea typeface="Arial"/>
                <a:cs typeface="Arial"/>
              </a:defRPr>
            </a:pPr>
            <a:r>
              <a:rPr sz="2025" b="1">
                <a:solidFill>
                  <a:srgbClr val="076B4D"/>
                </a:solidFill>
                <a:latin typeface="Arial"/>
                <a:ea typeface="Arial"/>
                <a:cs typeface="Arial"/>
              </a:rPr>
              <a:t>Clear ownership</a:t>
            </a:r>
          </a:p>
        </p:txBody>
      </p:sp>
      <p:sp>
        <p:nvSpPr>
          <p:cNvPr id="12" name="text-123">
            <a:extLst xmlns:a="http://schemas.openxmlformats.org/drawingml/2006/main">
              <a:ext uri="{FF2B5EF4-FFF2-40B4-BE49-F238E27FC236}">
                <a16:creationId xmlns:a16="http://schemas.microsoft.com/office/drawing/2014/main" id="{4D0AB217-19D4-4988-A2CF-95FD7D1A33A0}"/>
              </a:ext>
            </a:extLst>
          </p:cNvPr>
          <p:cNvSpPr>
            <a:spLocks xmlns:a="http://schemas.openxmlformats.org/drawingml/2006/main" noGrp="1"/>
          </p:cNvSpPr>
          <p:nvPr/>
        </p:nvSpPr>
        <p:spPr>
          <a:xfrm xmlns:a="http://schemas.openxmlformats.org/drawingml/2006/main">
            <a:off x="5038725" y="4991100"/>
            <a:ext cx="645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382C"/>
                </a:solidFill>
                <a:latin typeface="Arial"/>
                <a:ea typeface="Arial"/>
                <a:cs typeface="Arial"/>
              </a:defRPr>
            </a:pPr>
            <a:r>
              <a:rPr sz="1875" b="0">
                <a:solidFill>
                  <a:srgbClr val="16382C"/>
                </a:solidFill>
                <a:latin typeface="Arial"/>
                <a:ea typeface="Arial"/>
                <a:cs typeface="Arial"/>
              </a:rPr>
              <a:t>Users manage their own offers and bookings. Administrators handle reports.</a:t>
            </a:r>
          </a:p>
        </p:txBody>
      </p:sp>
    </p:spTree>
    <p:extLst>
      <p:ext uri="{BB962C8B-B14F-4D97-AF65-F5344CB8AC3E}">
        <p14:creationId xmlns:p14="http://schemas.microsoft.com/office/powerpoint/2010/main" val="1176258023"/>
      </p:ext>
    </p:extLst>
  </p:cSld>
</p:sld>
</file>

<file path=ppt/slides/slide10.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7" name="text-124">
            <a:extLst xmlns:a="http://schemas.openxmlformats.org/drawingml/2006/main">
              <a:ext uri="{FF2B5EF4-FFF2-40B4-BE49-F238E27FC236}">
                <a16:creationId xmlns:a16="http://schemas.microsoft.com/office/drawing/2014/main" id="{76D5FF69-00FE-4549-8589-A44BD56C1EF8}"/>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76B4D"/>
                </a:solidFill>
                <a:latin typeface="Arial"/>
                <a:ea typeface="Arial"/>
                <a:cs typeface="Arial"/>
              </a:defRPr>
            </a:pPr>
            <a:r>
              <a:rPr sz="1275" b="1">
                <a:solidFill>
                  <a:srgbClr val="076B4D"/>
                </a:solidFill>
                <a:latin typeface="Arial"/>
                <a:ea typeface="Arial"/>
                <a:cs typeface="Arial"/>
              </a:rPr>
              <a:t>SUPPORT FOR THE CAMPUS COMMUNITY</a:t>
            </a:r>
          </a:p>
        </p:txBody>
      </p:sp>
      <p:sp>
        <p:nvSpPr>
          <p:cNvPr id="2" name="text-125">
            <a:extLst xmlns:a="http://schemas.openxmlformats.org/drawingml/2006/main">
              <a:ext uri="{FF2B5EF4-FFF2-40B4-BE49-F238E27FC236}">
                <a16:creationId xmlns:a16="http://schemas.microsoft.com/office/drawing/2014/main" id="{90967A55-88CF-4941-9E59-EA37E7E76E35}"/>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6382C"/>
                </a:solidFill>
                <a:latin typeface="Arial"/>
                <a:ea typeface="Arial"/>
                <a:cs typeface="Arial"/>
              </a:defRPr>
            </a:pPr>
            <a:r>
              <a:rPr sz="3300" b="1">
                <a:solidFill>
                  <a:srgbClr val="16382C"/>
                </a:solidFill>
                <a:latin typeface="Arial"/>
                <a:ea typeface="Arial"/>
                <a:cs typeface="Arial"/>
              </a:rPr>
              <a:t>Administration and moderation</a:t>
            </a:r>
          </a:p>
        </p:txBody>
      </p:sp>
      <p:sp>
        <p:nvSpPr>
          <p:cNvPr id="3" name="text-126">
            <a:extLst xmlns:a="http://schemas.openxmlformats.org/drawingml/2006/main">
              <a:ext uri="{FF2B5EF4-FFF2-40B4-BE49-F238E27FC236}">
                <a16:creationId xmlns:a16="http://schemas.microsoft.com/office/drawing/2014/main" id="{AD5C7BAF-F87E-47D1-AC4D-5C94377FB352}"/>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ShareCommute</a:t>
            </a:r>
          </a:p>
        </p:txBody>
      </p:sp>
      <p:sp>
        <p:nvSpPr>
          <p:cNvPr id="4" name="text-127">
            <a:extLst xmlns:a="http://schemas.openxmlformats.org/drawingml/2006/main">
              <a:ext uri="{FF2B5EF4-FFF2-40B4-BE49-F238E27FC236}">
                <a16:creationId xmlns:a16="http://schemas.microsoft.com/office/drawing/2014/main" id="{7FD71AE7-6978-4A3F-896A-5B8F9944A53A}"/>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66C60"/>
                </a:solidFill>
                <a:latin typeface="Arial"/>
                <a:ea typeface="Arial"/>
                <a:cs typeface="Arial"/>
              </a:defRPr>
            </a:pPr>
            <a:r>
              <a:rPr sz="1125" b="0">
                <a:solidFill>
                  <a:srgbClr val="566C60"/>
                </a:solidFill>
                <a:latin typeface="Arial"/>
                <a:ea typeface="Arial"/>
                <a:cs typeface="Arial"/>
              </a:rPr>
              <a:t>10</a:t>
            </a:r>
          </a:p>
        </p:txBody>
      </p:sp>
      <p:sp>
        <p:nvSpPr>
          <p:cNvPr id="5" name="text-128">
            <a:extLst xmlns:a="http://schemas.openxmlformats.org/drawingml/2006/main">
              <a:ext uri="{FF2B5EF4-FFF2-40B4-BE49-F238E27FC236}">
                <a16:creationId xmlns:a16="http://schemas.microsoft.com/office/drawing/2014/main" id="{0C33BED1-6E9A-418B-ACE6-1D099D2B5EF1}"/>
              </a:ext>
            </a:extLst>
          </p:cNvPr>
          <p:cNvSpPr>
            <a:spLocks xmlns:a="http://schemas.openxmlformats.org/drawingml/2006/main" noGrp="1"/>
          </p:cNvSpPr>
          <p:nvPr/>
        </p:nvSpPr>
        <p:spPr>
          <a:xfrm xmlns:a="http://schemas.openxmlformats.org/drawingml/2006/main">
            <a:off x="609600" y="20478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076B4D"/>
                </a:solidFill>
                <a:latin typeface="Arial"/>
                <a:ea typeface="Arial"/>
                <a:cs typeface="Arial"/>
              </a:defRPr>
            </a:pPr>
            <a:r>
              <a:rPr sz="2700" b="1">
                <a:solidFill>
                  <a:srgbClr val="076B4D"/>
                </a:solidFill>
                <a:latin typeface="Arial"/>
                <a:ea typeface="Arial"/>
                <a:cs typeface="Arial"/>
              </a:rPr>
              <a:t>Members can report</a:t>
            </a:r>
          </a:p>
          <a:p xmlns:a="http://schemas.openxmlformats.org/drawingml/2006/main">
            <a:pPr algn="l">
              <a:defRPr sz="2700" b="1">
                <a:solidFill>
                  <a:srgbClr val="076B4D"/>
                </a:solidFill>
                <a:latin typeface="Arial"/>
                <a:ea typeface="Arial"/>
                <a:cs typeface="Arial"/>
              </a:defRPr>
            </a:pPr>
            <a:r>
              <a:rPr sz="2700" b="1">
                <a:solidFill>
                  <a:srgbClr val="076B4D"/>
                </a:solidFill>
                <a:latin typeface="Arial"/>
                <a:ea typeface="Arial"/>
                <a:cs typeface="Arial"/>
              </a:rPr>
              <a:t>a ride issue</a:t>
            </a:r>
          </a:p>
        </p:txBody>
      </p:sp>
      <p:sp>
        <p:nvSpPr>
          <p:cNvPr id="6" name="text-129">
            <a:extLst xmlns:a="http://schemas.openxmlformats.org/drawingml/2006/main">
              <a:ext uri="{FF2B5EF4-FFF2-40B4-BE49-F238E27FC236}">
                <a16:creationId xmlns:a16="http://schemas.microsoft.com/office/drawing/2014/main" id="{07731E2E-99C9-4504-B4D2-AC2877F1991E}"/>
              </a:ext>
            </a:extLst>
          </p:cNvPr>
          <p:cNvSpPr>
            <a:spLocks xmlns:a="http://schemas.openxmlformats.org/drawingml/2006/main" noGrp="1"/>
          </p:cNvSpPr>
          <p:nvPr/>
        </p:nvSpPr>
        <p:spPr>
          <a:xfrm xmlns:a="http://schemas.openxmlformats.org/drawingml/2006/main">
            <a:off x="609600" y="3457575"/>
            <a:ext cx="4810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6382C"/>
                </a:solidFill>
                <a:latin typeface="Arial"/>
                <a:ea typeface="Arial"/>
                <a:cs typeface="Arial"/>
              </a:defRPr>
            </a:pPr>
            <a:r>
              <a:rPr sz="2025" b="0">
                <a:solidFill>
                  <a:srgbClr val="16382C"/>
                </a:solidFill>
                <a:latin typeface="Arial"/>
                <a:ea typeface="Arial"/>
                <a:cs typeface="Arial"/>
              </a:rPr>
              <a:t>A short description gives administrators the context they need to review a problem.</a:t>
            </a:r>
          </a:p>
        </p:txBody>
      </p:sp>
      <p:sp>
        <p:nvSpPr>
          <p:cNvPr id="7" name="text-130">
            <a:extLst xmlns:a="http://schemas.openxmlformats.org/drawingml/2006/main">
              <a:ext uri="{FF2B5EF4-FFF2-40B4-BE49-F238E27FC236}">
                <a16:creationId xmlns:a16="http://schemas.microsoft.com/office/drawing/2014/main" id="{3B35A8AE-2A3D-4D7E-87DC-BD12D99A0CA9}"/>
              </a:ext>
            </a:extLst>
          </p:cNvPr>
          <p:cNvSpPr>
            <a:spLocks xmlns:a="http://schemas.openxmlformats.org/drawingml/2006/main" noGrp="1"/>
          </p:cNvSpPr>
          <p:nvPr/>
        </p:nvSpPr>
        <p:spPr>
          <a:xfrm xmlns:a="http://schemas.openxmlformats.org/drawingml/2006/main">
            <a:off x="609600" y="5000625"/>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Reports remain in a review queue</a:t>
            </a:r>
          </a:p>
          <a:p xmlns:a="http://schemas.openxmlformats.org/drawingml/2006/main">
            <a:pPr algn="l">
              <a:defRPr sz="1800" b="0">
                <a:solidFill>
                  <a:srgbClr val="566C60"/>
                </a:solidFill>
                <a:latin typeface="Arial"/>
                <a:ea typeface="Arial"/>
                <a:cs typeface="Arial"/>
              </a:defRPr>
            </a:pPr>
            <a:r>
              <a:rPr sz="1800" b="0">
                <a:solidFill>
                  <a:srgbClr val="566C60"/>
                </a:solidFill>
                <a:latin typeface="Arial"/>
                <a:ea typeface="Arial"/>
                <a:cs typeface="Arial"/>
              </a:rPr>
              <a:t>until an administrator resolves them.</a:t>
            </a:r>
          </a:p>
        </p:txBody>
      </p:sp>
      <p:sp>
        <p:nvSpPr>
          <p:cNvPr id="8" name="text-131">
            <a:extLst xmlns:a="http://schemas.openxmlformats.org/drawingml/2006/main">
              <a:ext uri="{FF2B5EF4-FFF2-40B4-BE49-F238E27FC236}">
                <a16:creationId xmlns:a16="http://schemas.microsoft.com/office/drawing/2014/main" id="{F64BB880-D2E4-43ED-9AFD-03DB8870F478}"/>
              </a:ext>
            </a:extLst>
          </p:cNvPr>
          <p:cNvSpPr>
            <a:spLocks xmlns:a="http://schemas.openxmlformats.org/drawingml/2006/main" noGrp="1"/>
          </p:cNvSpPr>
          <p:nvPr/>
        </p:nvSpPr>
        <p:spPr>
          <a:xfrm xmlns:a="http://schemas.openxmlformats.org/drawingml/2006/main">
            <a:off x="6638925" y="2047875"/>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6382C"/>
                </a:solidFill>
                <a:latin typeface="Arial"/>
                <a:ea typeface="Arial"/>
                <a:cs typeface="Arial"/>
              </a:defRPr>
            </a:pPr>
            <a:r>
              <a:rPr sz="2325" b="1">
                <a:solidFill>
                  <a:srgbClr val="16382C"/>
                </a:solidFill>
                <a:latin typeface="Arial"/>
                <a:ea typeface="Arial"/>
                <a:cs typeface="Arial"/>
              </a:rPr>
              <a:t>Administrator tools</a:t>
            </a:r>
          </a:p>
        </p:txBody>
      </p:sp>
      <p:sp>
        <p:nvSpPr>
          <p:cNvPr id="9" name="text-132">
            <a:extLst xmlns:a="http://schemas.openxmlformats.org/drawingml/2006/main">
              <a:ext uri="{FF2B5EF4-FFF2-40B4-BE49-F238E27FC236}">
                <a16:creationId xmlns:a16="http://schemas.microsoft.com/office/drawing/2014/main" id="{35437A12-2704-4E89-A55F-A3E851832DD9}"/>
              </a:ext>
            </a:extLst>
          </p:cNvPr>
          <p:cNvSpPr>
            <a:spLocks xmlns:a="http://schemas.openxmlformats.org/drawingml/2006/main" noGrp="1"/>
          </p:cNvSpPr>
          <p:nvPr/>
        </p:nvSpPr>
        <p:spPr>
          <a:xfrm xmlns:a="http://schemas.openxmlformats.org/drawingml/2006/main">
            <a:off x="6638925" y="2933700"/>
            <a:ext cx="552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76B4D"/>
                </a:solidFill>
                <a:latin typeface="Arial"/>
                <a:ea typeface="Arial"/>
                <a:cs typeface="Arial"/>
              </a:defRPr>
            </a:pPr>
            <a:r>
              <a:rPr sz="1950" b="1">
                <a:solidFill>
                  <a:srgbClr val="076B4D"/>
                </a:solidFill>
                <a:latin typeface="Arial"/>
                <a:ea typeface="Arial"/>
                <a:cs typeface="Arial"/>
              </a:rPr>
              <a:t>01</a:t>
            </a:r>
          </a:p>
        </p:txBody>
      </p:sp>
      <p:sp>
        <p:nvSpPr>
          <p:cNvPr id="10" name="text-133">
            <a:extLst xmlns:a="http://schemas.openxmlformats.org/drawingml/2006/main">
              <a:ext uri="{FF2B5EF4-FFF2-40B4-BE49-F238E27FC236}">
                <a16:creationId xmlns:a16="http://schemas.microsoft.com/office/drawing/2014/main" id="{8AFEF1AC-D5BF-42ED-B76D-D1E59091E441}"/>
              </a:ext>
            </a:extLst>
          </p:cNvPr>
          <p:cNvSpPr>
            <a:spLocks xmlns:a="http://schemas.openxmlformats.org/drawingml/2006/main" noGrp="1"/>
          </p:cNvSpPr>
          <p:nvPr/>
        </p:nvSpPr>
        <p:spPr>
          <a:xfrm xmlns:a="http://schemas.openxmlformats.org/drawingml/2006/main">
            <a:off x="7353300" y="2933700"/>
            <a:ext cx="40671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382C"/>
                </a:solidFill>
                <a:latin typeface="Arial"/>
                <a:ea typeface="Arial"/>
                <a:cs typeface="Arial"/>
              </a:defRPr>
            </a:pPr>
            <a:r>
              <a:rPr sz="1875" b="0">
                <a:solidFill>
                  <a:srgbClr val="16382C"/>
                </a:solidFill>
                <a:latin typeface="Arial"/>
                <a:ea typeface="Arial"/>
                <a:cs typeface="Arial"/>
              </a:rPr>
              <a:t>View member, ride and booking counts</a:t>
            </a:r>
          </a:p>
        </p:txBody>
      </p:sp>
      <p:sp>
        <p:nvSpPr>
          <p:cNvPr id="11" name="text-134">
            <a:extLst xmlns:a="http://schemas.openxmlformats.org/drawingml/2006/main">
              <a:ext uri="{FF2B5EF4-FFF2-40B4-BE49-F238E27FC236}">
                <a16:creationId xmlns:a16="http://schemas.microsoft.com/office/drawing/2014/main" id="{5D68DCFE-0D18-49E3-BAA4-9E16F2B7E2CF}"/>
              </a:ext>
            </a:extLst>
          </p:cNvPr>
          <p:cNvSpPr>
            <a:spLocks xmlns:a="http://schemas.openxmlformats.org/drawingml/2006/main" noGrp="1"/>
          </p:cNvSpPr>
          <p:nvPr/>
        </p:nvSpPr>
        <p:spPr>
          <a:xfrm xmlns:a="http://schemas.openxmlformats.org/drawingml/2006/main">
            <a:off x="6638925" y="3695700"/>
            <a:ext cx="552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76B4D"/>
                </a:solidFill>
                <a:latin typeface="Arial"/>
                <a:ea typeface="Arial"/>
                <a:cs typeface="Arial"/>
              </a:defRPr>
            </a:pPr>
            <a:r>
              <a:rPr sz="1950" b="1">
                <a:solidFill>
                  <a:srgbClr val="076B4D"/>
                </a:solidFill>
                <a:latin typeface="Arial"/>
                <a:ea typeface="Arial"/>
                <a:cs typeface="Arial"/>
              </a:rPr>
              <a:t>02</a:t>
            </a:r>
          </a:p>
        </p:txBody>
      </p:sp>
      <p:sp>
        <p:nvSpPr>
          <p:cNvPr id="12" name="text-135">
            <a:extLst xmlns:a="http://schemas.openxmlformats.org/drawingml/2006/main">
              <a:ext uri="{FF2B5EF4-FFF2-40B4-BE49-F238E27FC236}">
                <a16:creationId xmlns:a16="http://schemas.microsoft.com/office/drawing/2014/main" id="{F72521DC-AF2C-4456-9684-4B9611D0AF44}"/>
              </a:ext>
            </a:extLst>
          </p:cNvPr>
          <p:cNvSpPr>
            <a:spLocks xmlns:a="http://schemas.openxmlformats.org/drawingml/2006/main" noGrp="1"/>
          </p:cNvSpPr>
          <p:nvPr/>
        </p:nvSpPr>
        <p:spPr>
          <a:xfrm xmlns:a="http://schemas.openxmlformats.org/drawingml/2006/main">
            <a:off x="7353300" y="3695700"/>
            <a:ext cx="40671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382C"/>
                </a:solidFill>
                <a:latin typeface="Arial"/>
                <a:ea typeface="Arial"/>
                <a:cs typeface="Arial"/>
              </a:defRPr>
            </a:pPr>
            <a:r>
              <a:rPr sz="1875" b="0">
                <a:solidFill>
                  <a:srgbClr val="16382C"/>
                </a:solidFill>
                <a:latin typeface="Arial"/>
                <a:ea typeface="Arial"/>
                <a:cs typeface="Arial"/>
              </a:rPr>
              <a:t>Read and resolve ride reports</a:t>
            </a:r>
          </a:p>
        </p:txBody>
      </p:sp>
      <p:sp>
        <p:nvSpPr>
          <p:cNvPr id="13" name="text-136">
            <a:extLst xmlns:a="http://schemas.openxmlformats.org/drawingml/2006/main">
              <a:ext uri="{FF2B5EF4-FFF2-40B4-BE49-F238E27FC236}">
                <a16:creationId xmlns:a16="http://schemas.microsoft.com/office/drawing/2014/main" id="{8376E5B2-F1C4-41CE-B25E-58A1F1B0A263}"/>
              </a:ext>
            </a:extLst>
          </p:cNvPr>
          <p:cNvSpPr>
            <a:spLocks xmlns:a="http://schemas.openxmlformats.org/drawingml/2006/main" noGrp="1"/>
          </p:cNvSpPr>
          <p:nvPr/>
        </p:nvSpPr>
        <p:spPr>
          <a:xfrm xmlns:a="http://schemas.openxmlformats.org/drawingml/2006/main">
            <a:off x="6638925" y="4457700"/>
            <a:ext cx="552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76B4D"/>
                </a:solidFill>
                <a:latin typeface="Arial"/>
                <a:ea typeface="Arial"/>
                <a:cs typeface="Arial"/>
              </a:defRPr>
            </a:pPr>
            <a:r>
              <a:rPr sz="1950" b="1">
                <a:solidFill>
                  <a:srgbClr val="076B4D"/>
                </a:solidFill>
                <a:latin typeface="Arial"/>
                <a:ea typeface="Arial"/>
                <a:cs typeface="Arial"/>
              </a:rPr>
              <a:t>03</a:t>
            </a:r>
          </a:p>
        </p:txBody>
      </p:sp>
      <p:sp>
        <p:nvSpPr>
          <p:cNvPr id="14" name="text-137">
            <a:extLst xmlns:a="http://schemas.openxmlformats.org/drawingml/2006/main">
              <a:ext uri="{FF2B5EF4-FFF2-40B4-BE49-F238E27FC236}">
                <a16:creationId xmlns:a16="http://schemas.microsoft.com/office/drawing/2014/main" id="{E59A1AD1-7EF2-406C-90CA-6DA4D8027EC3}"/>
              </a:ext>
            </a:extLst>
          </p:cNvPr>
          <p:cNvSpPr>
            <a:spLocks xmlns:a="http://schemas.openxmlformats.org/drawingml/2006/main" noGrp="1"/>
          </p:cNvSpPr>
          <p:nvPr/>
        </p:nvSpPr>
        <p:spPr>
          <a:xfrm xmlns:a="http://schemas.openxmlformats.org/drawingml/2006/main">
            <a:off x="7353300" y="4457700"/>
            <a:ext cx="40671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382C"/>
                </a:solidFill>
                <a:latin typeface="Arial"/>
                <a:ea typeface="Arial"/>
                <a:cs typeface="Arial"/>
              </a:defRPr>
            </a:pPr>
            <a:r>
              <a:rPr sz="1875" b="0">
                <a:solidFill>
                  <a:srgbClr val="16382C"/>
                </a:solidFill>
                <a:latin typeface="Arial"/>
                <a:ea typeface="Arial"/>
                <a:cs typeface="Arial"/>
              </a:rPr>
              <a:t>Suspend or restore member access</a:t>
            </a:r>
          </a:p>
        </p:txBody>
      </p:sp>
      <p:sp>
        <p:nvSpPr>
          <p:cNvPr id="15" name="text-138">
            <a:extLst xmlns:a="http://schemas.openxmlformats.org/drawingml/2006/main">
              <a:ext uri="{FF2B5EF4-FFF2-40B4-BE49-F238E27FC236}">
                <a16:creationId xmlns:a16="http://schemas.microsoft.com/office/drawing/2014/main" id="{4E5789C4-0418-4B1F-838C-A665778C069C}"/>
              </a:ext>
            </a:extLst>
          </p:cNvPr>
          <p:cNvSpPr>
            <a:spLocks xmlns:a="http://schemas.openxmlformats.org/drawingml/2006/main" noGrp="1"/>
          </p:cNvSpPr>
          <p:nvPr/>
        </p:nvSpPr>
        <p:spPr>
          <a:xfrm xmlns:a="http://schemas.openxmlformats.org/drawingml/2006/main">
            <a:off x="6638925" y="5219700"/>
            <a:ext cx="552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76B4D"/>
                </a:solidFill>
                <a:latin typeface="Arial"/>
                <a:ea typeface="Arial"/>
                <a:cs typeface="Arial"/>
              </a:defRPr>
            </a:pPr>
            <a:r>
              <a:rPr sz="1950" b="1">
                <a:solidFill>
                  <a:srgbClr val="076B4D"/>
                </a:solidFill>
                <a:latin typeface="Arial"/>
                <a:ea typeface="Arial"/>
                <a:cs typeface="Arial"/>
              </a:rPr>
              <a:t>04</a:t>
            </a:r>
          </a:p>
        </p:txBody>
      </p:sp>
      <p:sp>
        <p:nvSpPr>
          <p:cNvPr id="16" name="text-139">
            <a:extLst xmlns:a="http://schemas.openxmlformats.org/drawingml/2006/main">
              <a:ext uri="{FF2B5EF4-FFF2-40B4-BE49-F238E27FC236}">
                <a16:creationId xmlns:a16="http://schemas.microsoft.com/office/drawing/2014/main" id="{E4B4CB9B-E9A0-4E32-98F7-8B017CC35FBF}"/>
              </a:ext>
            </a:extLst>
          </p:cNvPr>
          <p:cNvSpPr>
            <a:spLocks xmlns:a="http://schemas.openxmlformats.org/drawingml/2006/main" noGrp="1"/>
          </p:cNvSpPr>
          <p:nvPr/>
        </p:nvSpPr>
        <p:spPr>
          <a:xfrm xmlns:a="http://schemas.openxmlformats.org/drawingml/2006/main">
            <a:off x="7353300" y="5219700"/>
            <a:ext cx="40671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382C"/>
                </a:solidFill>
                <a:latin typeface="Arial"/>
                <a:ea typeface="Arial"/>
                <a:cs typeface="Arial"/>
              </a:defRPr>
            </a:pPr>
            <a:r>
              <a:rPr sz="1875" b="0">
                <a:solidFill>
                  <a:srgbClr val="16382C"/>
                </a:solidFill>
                <a:latin typeface="Arial"/>
                <a:ea typeface="Arial"/>
                <a:cs typeface="Arial"/>
              </a:rPr>
              <a:t>Cancel future travel linked to a suspended member</a:t>
            </a:r>
          </a:p>
        </p:txBody>
      </p:sp>
    </p:spTree>
    <p:extLst>
      <p:ext uri="{BB962C8B-B14F-4D97-AF65-F5344CB8AC3E}">
        <p14:creationId xmlns:p14="http://schemas.microsoft.com/office/powerpoint/2010/main" val="1884370407"/>
      </p:ext>
    </p:extLst>
  </p:cSld>
</p:sld>
</file>

<file path=ppt/slides/slide11.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2" name="text-140">
            <a:extLst xmlns:a="http://schemas.openxmlformats.org/drawingml/2006/main">
              <a:ext uri="{FF2B5EF4-FFF2-40B4-BE49-F238E27FC236}">
                <a16:creationId xmlns:a16="http://schemas.microsoft.com/office/drawing/2014/main" id="{FD210A86-2230-4353-9C3C-8323BBA95F78}"/>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76B4D"/>
                </a:solidFill>
                <a:latin typeface="Arial"/>
                <a:ea typeface="Arial"/>
                <a:cs typeface="Arial"/>
              </a:defRPr>
            </a:pPr>
            <a:r>
              <a:rPr sz="1275" b="1">
                <a:solidFill>
                  <a:srgbClr val="076B4D"/>
                </a:solidFill>
                <a:latin typeface="Arial"/>
                <a:ea typeface="Arial"/>
                <a:cs typeface="Arial"/>
              </a:rPr>
              <a:t>PROJECT APPROACH</a:t>
            </a:r>
          </a:p>
        </p:txBody>
      </p:sp>
      <p:sp>
        <p:nvSpPr>
          <p:cNvPr id="2" name="text-141">
            <a:extLst xmlns:a="http://schemas.openxmlformats.org/drawingml/2006/main">
              <a:ext uri="{FF2B5EF4-FFF2-40B4-BE49-F238E27FC236}">
                <a16:creationId xmlns:a16="http://schemas.microsoft.com/office/drawing/2014/main" id="{D1F37371-80E1-4F7D-A0A0-9C94E5729E14}"/>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6382C"/>
                </a:solidFill>
                <a:latin typeface="Arial"/>
                <a:ea typeface="Arial"/>
                <a:cs typeface="Arial"/>
              </a:defRPr>
            </a:pPr>
            <a:r>
              <a:rPr sz="3300" b="1">
                <a:solidFill>
                  <a:srgbClr val="16382C"/>
                </a:solidFill>
                <a:latin typeface="Arial"/>
                <a:ea typeface="Arial"/>
                <a:cs typeface="Arial"/>
              </a:rPr>
              <a:t>Implementation in two phases</a:t>
            </a:r>
          </a:p>
        </p:txBody>
      </p:sp>
      <p:sp>
        <p:nvSpPr>
          <p:cNvPr id="3" name="text-142">
            <a:extLst xmlns:a="http://schemas.openxmlformats.org/drawingml/2006/main">
              <a:ext uri="{FF2B5EF4-FFF2-40B4-BE49-F238E27FC236}">
                <a16:creationId xmlns:a16="http://schemas.microsoft.com/office/drawing/2014/main" id="{A8C553B4-46BE-4763-BD33-139A3862D0BA}"/>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66C60"/>
                </a:solidFill>
                <a:latin typeface="Arial"/>
                <a:ea typeface="Arial"/>
                <a:cs typeface="Arial"/>
              </a:defRPr>
            </a:pPr>
            <a:r>
              <a:rPr sz="1125" b="0">
                <a:solidFill>
                  <a:srgbClr val="566C60"/>
                </a:solidFill>
                <a:latin typeface="Arial"/>
                <a:ea typeface="Arial"/>
                <a:cs typeface="Arial"/>
              </a:rPr>
              <a:t>ShareCommute</a:t>
            </a:r>
          </a:p>
        </p:txBody>
      </p:sp>
      <p:sp>
        <p:nvSpPr>
          <p:cNvPr id="4" name="text-143">
            <a:extLst xmlns:a="http://schemas.openxmlformats.org/drawingml/2006/main">
              <a:ext uri="{FF2B5EF4-FFF2-40B4-BE49-F238E27FC236}">
                <a16:creationId xmlns:a16="http://schemas.microsoft.com/office/drawing/2014/main" id="{533465AA-5B42-4A68-9117-4EEE9C210B0C}"/>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66C60"/>
                </a:solidFill>
                <a:latin typeface="Arial"/>
                <a:ea typeface="Arial"/>
                <a:cs typeface="Arial"/>
              </a:defRPr>
            </a:pPr>
            <a:r>
              <a:rPr sz="1125" b="0">
                <a:solidFill>
                  <a:srgbClr val="566C60"/>
                </a:solidFill>
                <a:latin typeface="Arial"/>
                <a:ea typeface="Arial"/>
                <a:cs typeface="Arial"/>
              </a:rPr>
              <a:t>11</a:t>
            </a:r>
          </a:p>
        </p:txBody>
      </p:sp>
      <p:sp>
        <p:nvSpPr>
          <p:cNvPr id="5" name="text-144">
            <a:extLst xmlns:a="http://schemas.openxmlformats.org/drawingml/2006/main">
              <a:ext uri="{FF2B5EF4-FFF2-40B4-BE49-F238E27FC236}">
                <a16:creationId xmlns:a16="http://schemas.microsoft.com/office/drawing/2014/main" id="{E9133113-4325-4856-BA9C-B58E0D5FDC03}"/>
              </a:ext>
            </a:extLst>
          </p:cNvPr>
          <p:cNvSpPr>
            <a:spLocks xmlns:a="http://schemas.openxmlformats.org/drawingml/2006/main" noGrp="1"/>
          </p:cNvSpPr>
          <p:nvPr/>
        </p:nvSpPr>
        <p:spPr>
          <a:xfrm xmlns:a="http://schemas.openxmlformats.org/drawingml/2006/main">
            <a:off x="609600" y="19812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75" b="1">
                <a:solidFill>
                  <a:srgbClr val="076B4D"/>
                </a:solidFill>
                <a:latin typeface="Arial"/>
                <a:ea typeface="Arial"/>
                <a:cs typeface="Arial"/>
              </a:defRPr>
            </a:pPr>
            <a:r>
              <a:rPr sz="2775" b="1">
                <a:solidFill>
                  <a:srgbClr val="076B4D"/>
                </a:solidFill>
                <a:latin typeface="Arial"/>
                <a:ea typeface="Arial"/>
                <a:cs typeface="Arial"/>
              </a:rPr>
              <a:t>Phase 1</a:t>
            </a:r>
          </a:p>
        </p:txBody>
      </p:sp>
      <p:sp>
        <p:nvSpPr>
          <p:cNvPr id="6" name="text-145">
            <a:extLst xmlns:a="http://schemas.openxmlformats.org/drawingml/2006/main">
              <a:ext uri="{FF2B5EF4-FFF2-40B4-BE49-F238E27FC236}">
                <a16:creationId xmlns:a16="http://schemas.microsoft.com/office/drawing/2014/main" id="{2612EE5A-E0DD-40CD-973A-53DB55B0AEAB}"/>
              </a:ext>
            </a:extLst>
          </p:cNvPr>
          <p:cNvSpPr>
            <a:spLocks xmlns:a="http://schemas.openxmlformats.org/drawingml/2006/main" noGrp="1"/>
          </p:cNvSpPr>
          <p:nvPr/>
        </p:nvSpPr>
        <p:spPr>
          <a:xfrm xmlns:a="http://schemas.openxmlformats.org/drawingml/2006/main">
            <a:off x="609600" y="2657475"/>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6382C"/>
                </a:solidFill>
                <a:latin typeface="Arial"/>
                <a:ea typeface="Arial"/>
                <a:cs typeface="Arial"/>
              </a:defRPr>
            </a:pPr>
            <a:r>
              <a:rPr sz="2175" b="1">
                <a:solidFill>
                  <a:srgbClr val="16382C"/>
                </a:solidFill>
                <a:latin typeface="Arial"/>
                <a:ea typeface="Arial"/>
                <a:cs typeface="Arial"/>
              </a:rPr>
              <a:t>Frontend foundation</a:t>
            </a:r>
          </a:p>
        </p:txBody>
      </p:sp>
      <p:sp>
        <p:nvSpPr>
          <p:cNvPr id="7" name="text-146">
            <a:extLst xmlns:a="http://schemas.openxmlformats.org/drawingml/2006/main">
              <a:ext uri="{FF2B5EF4-FFF2-40B4-BE49-F238E27FC236}">
                <a16:creationId xmlns:a16="http://schemas.microsoft.com/office/drawing/2014/main" id="{06B94BE9-10EE-4082-8367-22114791FBDD}"/>
              </a:ext>
            </a:extLst>
          </p:cNvPr>
          <p:cNvSpPr>
            <a:spLocks xmlns:a="http://schemas.openxmlformats.org/drawingml/2006/main" noGrp="1"/>
          </p:cNvSpPr>
          <p:nvPr/>
        </p:nvSpPr>
        <p:spPr>
          <a:xfrm xmlns:a="http://schemas.openxmlformats.org/drawingml/2006/main">
            <a:off x="609600" y="3381375"/>
            <a:ext cx="50292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66C60"/>
                </a:solidFill>
                <a:latin typeface="Arial"/>
                <a:ea typeface="Arial"/>
                <a:cs typeface="Arial"/>
              </a:defRPr>
            </a:pPr>
            <a:r>
              <a:rPr sz="1950" b="0">
                <a:solidFill>
                  <a:srgbClr val="566C60"/>
                </a:solidFill>
                <a:latin typeface="Arial"/>
                <a:ea typeface="Arial"/>
                <a:cs typeface="Arial"/>
              </a:rPr>
              <a:t>Responsive interface</a:t>
            </a:r>
          </a:p>
          <a:p xmlns:a="http://schemas.openxmlformats.org/drawingml/2006/main">
            <a:pPr algn="l">
              <a:defRPr sz="1950" b="0">
                <a:solidFill>
                  <a:srgbClr val="566C60"/>
                </a:solidFill>
                <a:latin typeface="Arial"/>
                <a:ea typeface="Arial"/>
                <a:cs typeface="Arial"/>
              </a:defRPr>
            </a:pPr>
            <a:r>
              <a:rPr sz="1950" b="0">
                <a:solidFill>
                  <a:srgbClr val="566C60"/>
                </a:solidFill>
                <a:latin typeface="Arial"/>
                <a:ea typeface="Arial"/>
                <a:cs typeface="Arial"/>
              </a:rPr>
              <a:t>Ride search and offer forms</a:t>
            </a:r>
          </a:p>
          <a:p xmlns:a="http://schemas.openxmlformats.org/drawingml/2006/main">
            <a:pPr algn="l">
              <a:defRPr sz="1950" b="0">
                <a:solidFill>
                  <a:srgbClr val="566C60"/>
                </a:solidFill>
                <a:latin typeface="Arial"/>
                <a:ea typeface="Arial"/>
                <a:cs typeface="Arial"/>
              </a:defRPr>
            </a:pPr>
            <a:r>
              <a:rPr sz="1950" b="0">
                <a:solidFill>
                  <a:srgbClr val="566C60"/>
                </a:solidFill>
                <a:latin typeface="Arial"/>
                <a:ea typeface="Arial"/>
                <a:cs typeface="Arial"/>
              </a:rPr>
              <a:t>Booking and fare rules</a:t>
            </a:r>
          </a:p>
          <a:p xmlns:a="http://schemas.openxmlformats.org/drawingml/2006/main">
            <a:pPr algn="l">
              <a:defRPr sz="1950" b="0">
                <a:solidFill>
                  <a:srgbClr val="566C60"/>
                </a:solidFill>
                <a:latin typeface="Arial"/>
                <a:ea typeface="Arial"/>
                <a:cs typeface="Arial"/>
              </a:defRPr>
            </a:pPr>
            <a:r>
              <a:rPr sz="1950" b="0">
                <a:solidFill>
                  <a:srgbClr val="566C60"/>
                </a:solidFill>
                <a:latin typeface="Arial"/>
                <a:ea typeface="Arial"/>
                <a:cs typeface="Arial"/>
              </a:rPr>
              <a:t>Demonstration with sample data</a:t>
            </a:r>
          </a:p>
        </p:txBody>
      </p:sp>
      <p:sp>
        <p:nvSpPr>
          <p:cNvPr id="8" name="text-147">
            <a:extLst xmlns:a="http://schemas.openxmlformats.org/drawingml/2006/main">
              <a:ext uri="{FF2B5EF4-FFF2-40B4-BE49-F238E27FC236}">
                <a16:creationId xmlns:a16="http://schemas.microsoft.com/office/drawing/2014/main" id="{5864B34B-64E3-4028-9D57-A186D380BDCA}"/>
              </a:ext>
            </a:extLst>
          </p:cNvPr>
          <p:cNvSpPr>
            <a:spLocks xmlns:a="http://schemas.openxmlformats.org/drawingml/2006/main" noGrp="1"/>
          </p:cNvSpPr>
          <p:nvPr/>
        </p:nvSpPr>
        <p:spPr>
          <a:xfrm xmlns:a="http://schemas.openxmlformats.org/drawingml/2006/main">
            <a:off x="6638925" y="19812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75" b="1">
                <a:solidFill>
                  <a:srgbClr val="076B4D"/>
                </a:solidFill>
                <a:latin typeface="Arial"/>
                <a:ea typeface="Arial"/>
                <a:cs typeface="Arial"/>
              </a:defRPr>
            </a:pPr>
            <a:r>
              <a:rPr sz="2775" b="1">
                <a:solidFill>
                  <a:srgbClr val="076B4D"/>
                </a:solidFill>
                <a:latin typeface="Arial"/>
                <a:ea typeface="Arial"/>
                <a:cs typeface="Arial"/>
              </a:rPr>
              <a:t>Phase 2</a:t>
            </a:r>
          </a:p>
        </p:txBody>
      </p:sp>
      <p:sp>
        <p:nvSpPr>
          <p:cNvPr id="9" name="text-148">
            <a:extLst xmlns:a="http://schemas.openxmlformats.org/drawingml/2006/main">
              <a:ext uri="{FF2B5EF4-FFF2-40B4-BE49-F238E27FC236}">
                <a16:creationId xmlns:a16="http://schemas.microsoft.com/office/drawing/2014/main" id="{E0CC4759-3C8B-4EAD-AD42-AEF32A527D4C}"/>
              </a:ext>
            </a:extLst>
          </p:cNvPr>
          <p:cNvSpPr>
            <a:spLocks xmlns:a="http://schemas.openxmlformats.org/drawingml/2006/main" noGrp="1"/>
          </p:cNvSpPr>
          <p:nvPr/>
        </p:nvSpPr>
        <p:spPr>
          <a:xfrm xmlns:a="http://schemas.openxmlformats.org/drawingml/2006/main">
            <a:off x="6638925" y="2657475"/>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6382C"/>
                </a:solidFill>
                <a:latin typeface="Arial"/>
                <a:ea typeface="Arial"/>
                <a:cs typeface="Arial"/>
              </a:defRPr>
            </a:pPr>
            <a:r>
              <a:rPr sz="2175" b="1">
                <a:solidFill>
                  <a:srgbClr val="16382C"/>
                </a:solidFill>
                <a:latin typeface="Arial"/>
                <a:ea typeface="Arial"/>
                <a:cs typeface="Arial"/>
              </a:rPr>
              <a:t>Shared local application</a:t>
            </a:r>
          </a:p>
        </p:txBody>
      </p:sp>
      <p:sp>
        <p:nvSpPr>
          <p:cNvPr id="10" name="text-149">
            <a:extLst xmlns:a="http://schemas.openxmlformats.org/drawingml/2006/main">
              <a:ext uri="{FF2B5EF4-FFF2-40B4-BE49-F238E27FC236}">
                <a16:creationId xmlns:a16="http://schemas.microsoft.com/office/drawing/2014/main" id="{28358E4B-8F95-4E98-B22A-0E8882FD87F7}"/>
              </a:ext>
            </a:extLst>
          </p:cNvPr>
          <p:cNvSpPr>
            <a:spLocks xmlns:a="http://schemas.openxmlformats.org/drawingml/2006/main" noGrp="1"/>
          </p:cNvSpPr>
          <p:nvPr/>
        </p:nvSpPr>
        <p:spPr>
          <a:xfrm xmlns:a="http://schemas.openxmlformats.org/drawingml/2006/main">
            <a:off x="6638925" y="3381375"/>
            <a:ext cx="50292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66C60"/>
                </a:solidFill>
                <a:latin typeface="Arial"/>
                <a:ea typeface="Arial"/>
                <a:cs typeface="Arial"/>
              </a:defRPr>
            </a:pPr>
            <a:r>
              <a:rPr sz="1950" b="0">
                <a:solidFill>
                  <a:srgbClr val="566C60"/>
                </a:solidFill>
                <a:latin typeface="Arial"/>
                <a:ea typeface="Arial"/>
                <a:cs typeface="Arial"/>
              </a:rPr>
              <a:t>Accounts and shared SQLite data</a:t>
            </a:r>
          </a:p>
          <a:p xmlns:a="http://schemas.openxmlformats.org/drawingml/2006/main">
            <a:pPr algn="l">
              <a:defRPr sz="1950" b="0">
                <a:solidFill>
                  <a:srgbClr val="566C60"/>
                </a:solidFill>
                <a:latin typeface="Arial"/>
                <a:ea typeface="Arial"/>
                <a:cs typeface="Arial"/>
              </a:defRPr>
            </a:pPr>
            <a:r>
              <a:rPr sz="1950" b="0">
                <a:solidFill>
                  <a:srgbClr val="566C60"/>
                </a:solidFill>
                <a:latin typeface="Arial"/>
                <a:ea typeface="Arial"/>
                <a:cs typeface="Arial"/>
              </a:rPr>
              <a:t>Server-authorised bookings</a:t>
            </a:r>
          </a:p>
          <a:p xmlns:a="http://schemas.openxmlformats.org/drawingml/2006/main">
            <a:pPr algn="l">
              <a:defRPr sz="1950" b="0">
                <a:solidFill>
                  <a:srgbClr val="566C60"/>
                </a:solidFill>
                <a:latin typeface="Arial"/>
                <a:ea typeface="Arial"/>
                <a:cs typeface="Arial"/>
              </a:defRPr>
            </a:pPr>
            <a:r>
              <a:rPr sz="1950" b="0">
                <a:solidFill>
                  <a:srgbClr val="566C60"/>
                </a:solidFill>
                <a:latin typeface="Arial"/>
                <a:ea typeface="Arial"/>
                <a:cs typeface="Arial"/>
              </a:rPr>
              <a:t>Weekday recurring schedules</a:t>
            </a:r>
          </a:p>
          <a:p xmlns:a="http://schemas.openxmlformats.org/drawingml/2006/main">
            <a:pPr algn="l">
              <a:defRPr sz="1950" b="0">
                <a:solidFill>
                  <a:srgbClr val="566C60"/>
                </a:solidFill>
                <a:latin typeface="Arial"/>
                <a:ea typeface="Arial"/>
                <a:cs typeface="Arial"/>
              </a:defRPr>
            </a:pPr>
            <a:r>
              <a:rPr sz="1950" b="0">
                <a:solidFill>
                  <a:srgbClr val="566C60"/>
                </a:solidFill>
                <a:latin typeface="Arial"/>
                <a:ea typeface="Arial"/>
                <a:cs typeface="Arial"/>
              </a:rPr>
              <a:t>Reports and administration</a:t>
            </a:r>
          </a:p>
        </p:txBody>
      </p:sp>
      <p:sp>
        <p:nvSpPr>
          <p:cNvPr id="11" name="text-150">
            <a:extLst xmlns:a="http://schemas.openxmlformats.org/drawingml/2006/main">
              <a:ext uri="{FF2B5EF4-FFF2-40B4-BE49-F238E27FC236}">
                <a16:creationId xmlns:a16="http://schemas.microsoft.com/office/drawing/2014/main" id="{105F1126-EBDF-4713-A191-BE27A5D40F02}"/>
              </a:ext>
            </a:extLst>
          </p:cNvPr>
          <p:cNvSpPr>
            <a:spLocks xmlns:a="http://schemas.openxmlformats.org/drawingml/2006/main" noGrp="1"/>
          </p:cNvSpPr>
          <p:nvPr/>
        </p:nvSpPr>
        <p:spPr>
          <a:xfrm xmlns:a="http://schemas.openxmlformats.org/drawingml/2006/main">
            <a:off x="609600" y="5762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6382C"/>
                </a:solidFill>
                <a:latin typeface="Arial"/>
                <a:ea typeface="Arial"/>
                <a:cs typeface="Arial"/>
              </a:defRPr>
            </a:pPr>
            <a:r>
              <a:rPr sz="1650" b="1">
                <a:solidFill>
                  <a:srgbClr val="16382C"/>
                </a:solidFill>
                <a:latin typeface="Arial"/>
                <a:ea typeface="Arial"/>
                <a:cs typeface="Arial"/>
              </a:rPr>
              <a:t>React + TypeScript frontend     Node.js API     SQLite database     Local Git history</a:t>
            </a:r>
          </a:p>
        </p:txBody>
      </p:sp>
    </p:spTree>
    <p:extLst>
      <p:ext uri="{BB962C8B-B14F-4D97-AF65-F5344CB8AC3E}">
        <p14:creationId xmlns:p14="http://schemas.microsoft.com/office/powerpoint/2010/main" val="1473159874"/>
      </p:ext>
    </p:extLst>
  </p:cSld>
</p:sld>
</file>

<file path=ppt/slides/slide12.xml><?xml version="1.0" encoding="utf-8"?>
<p:sld xmlns:p="http://schemas.openxmlformats.org/presentationml/2006/main">
  <p:cSld>
    <p:bg>
      <p:bgPr>
        <a:solidFill xmlns:a="http://schemas.openxmlformats.org/drawingml/2006/main">
          <a:srgbClr val="063E30"/>
        </a:solidFill>
      </p:bgPr>
    </p:bg>
    <p:spTree>
      <p:nvGrpSpPr>
        <p:cNvPr id="1" name=""/>
        <p:cNvGrpSpPr/>
        <p:nvPr/>
      </p:nvGrpSpPr>
      <p:grpSpPr>
        <a:xfrm xmlns:a="http://schemas.openxmlformats.org/drawingml/2006/main"/>
      </p:grpSpPr>
      <p:sp>
        <p:nvSpPr>
          <p:cNvPr id="10" name="text-151">
            <a:extLst xmlns:a="http://schemas.openxmlformats.org/drawingml/2006/main">
              <a:ext uri="{FF2B5EF4-FFF2-40B4-BE49-F238E27FC236}">
                <a16:creationId xmlns:a16="http://schemas.microsoft.com/office/drawing/2014/main" id="{F6847CA4-AA0E-4ECA-B383-8A64A236FDAE}"/>
              </a:ext>
            </a:extLst>
          </p:cNvPr>
          <p:cNvSpPr>
            <a:spLocks xmlns:a="http://schemas.openxmlformats.org/drawingml/2006/main" noGrp="1"/>
          </p:cNvSpPr>
          <p:nvPr/>
        </p:nvSpPr>
        <p:spPr>
          <a:xfrm xmlns:a="http://schemas.openxmlformats.org/drawingml/2006/main">
            <a:off x="609600" y="4191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EEF9B"/>
                </a:solidFill>
                <a:latin typeface="Arial"/>
                <a:ea typeface="Arial"/>
                <a:cs typeface="Arial"/>
              </a:defRPr>
            </a:pPr>
            <a:r>
              <a:rPr sz="1275" b="1">
                <a:solidFill>
                  <a:srgbClr val="CEEF9B"/>
                </a:solidFill>
                <a:latin typeface="Arial"/>
                <a:ea typeface="Arial"/>
                <a:cs typeface="Arial"/>
              </a:rPr>
              <a:t>LOCAL PROJECT DEMONSTRATION</a:t>
            </a:r>
          </a:p>
        </p:txBody>
      </p:sp>
      <p:sp>
        <p:nvSpPr>
          <p:cNvPr id="2" name="text-152">
            <a:extLst xmlns:a="http://schemas.openxmlformats.org/drawingml/2006/main">
              <a:ext uri="{FF2B5EF4-FFF2-40B4-BE49-F238E27FC236}">
                <a16:creationId xmlns:a16="http://schemas.microsoft.com/office/drawing/2014/main" id="{1BF8E013-0C0B-4BAE-81FD-B184DC09C3EA}"/>
              </a:ext>
            </a:extLst>
          </p:cNvPr>
          <p:cNvSpPr>
            <a:spLocks xmlns:a="http://schemas.openxmlformats.org/drawingml/2006/main" noGrp="1"/>
          </p:cNvSpPr>
          <p:nvPr/>
        </p:nvSpPr>
        <p:spPr>
          <a:xfrm xmlns:a="http://schemas.openxmlformats.org/drawingml/2006/main">
            <a:off x="609600" y="8667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Current scope and next steps</a:t>
            </a:r>
          </a:p>
        </p:txBody>
      </p:sp>
      <p:sp>
        <p:nvSpPr>
          <p:cNvPr id="3" name="text-153">
            <a:extLst xmlns:a="http://schemas.openxmlformats.org/drawingml/2006/main">
              <a:ext uri="{FF2B5EF4-FFF2-40B4-BE49-F238E27FC236}">
                <a16:creationId xmlns:a16="http://schemas.microsoft.com/office/drawing/2014/main" id="{F6301AB2-B3BF-4AFC-9BD6-14B99AA66C52}"/>
              </a:ext>
            </a:extLst>
          </p:cNvPr>
          <p:cNvSpPr>
            <a:spLocks xmlns:a="http://schemas.openxmlformats.org/drawingml/2006/main" noGrp="1"/>
          </p:cNvSpPr>
          <p:nvPr/>
        </p:nvSpPr>
        <p:spPr>
          <a:xfrm xmlns:a="http://schemas.openxmlformats.org/drawingml/2006/main">
            <a:off x="609600" y="6410325"/>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BAD1C1"/>
                </a:solidFill>
                <a:latin typeface="Arial"/>
                <a:ea typeface="Arial"/>
                <a:cs typeface="Arial"/>
              </a:defRPr>
            </a:pPr>
            <a:r>
              <a:rPr sz="1125" b="0">
                <a:solidFill>
                  <a:srgbClr val="BAD1C1"/>
                </a:solidFill>
                <a:latin typeface="Arial"/>
                <a:ea typeface="Arial"/>
                <a:cs typeface="Arial"/>
              </a:rPr>
              <a:t>ShareCommute</a:t>
            </a:r>
          </a:p>
        </p:txBody>
      </p:sp>
      <p:sp>
        <p:nvSpPr>
          <p:cNvPr id="4" name="text-154">
            <a:extLst xmlns:a="http://schemas.openxmlformats.org/drawingml/2006/main">
              <a:ext uri="{FF2B5EF4-FFF2-40B4-BE49-F238E27FC236}">
                <a16:creationId xmlns:a16="http://schemas.microsoft.com/office/drawing/2014/main" id="{2DECA30D-5F61-4B09-91D3-5997D76A978D}"/>
              </a:ext>
            </a:extLst>
          </p:cNvPr>
          <p:cNvSpPr>
            <a:spLocks xmlns:a="http://schemas.openxmlformats.org/drawingml/2006/main" noGrp="1"/>
          </p:cNvSpPr>
          <p:nvPr/>
        </p:nvSpPr>
        <p:spPr>
          <a:xfrm xmlns:a="http://schemas.openxmlformats.org/drawingml/2006/main">
            <a:off x="11144250" y="641032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BAD1C1"/>
                </a:solidFill>
                <a:latin typeface="Arial"/>
                <a:ea typeface="Arial"/>
                <a:cs typeface="Arial"/>
              </a:defRPr>
            </a:pPr>
            <a:r>
              <a:rPr sz="1125" b="0">
                <a:solidFill>
                  <a:srgbClr val="BAD1C1"/>
                </a:solidFill>
                <a:latin typeface="Arial"/>
                <a:ea typeface="Arial"/>
                <a:cs typeface="Arial"/>
              </a:rPr>
              <a:t>12</a:t>
            </a:r>
          </a:p>
        </p:txBody>
      </p:sp>
      <p:sp>
        <p:nvSpPr>
          <p:cNvPr id="5" name="text-155">
            <a:extLst xmlns:a="http://schemas.openxmlformats.org/drawingml/2006/main">
              <a:ext uri="{FF2B5EF4-FFF2-40B4-BE49-F238E27FC236}">
                <a16:creationId xmlns:a16="http://schemas.microsoft.com/office/drawing/2014/main" id="{D1143BE2-6AD7-408F-8D6D-E35C806A0ACB}"/>
              </a:ext>
            </a:extLst>
          </p:cNvPr>
          <p:cNvSpPr>
            <a:spLocks xmlns:a="http://schemas.openxmlformats.org/drawingml/2006/main" noGrp="1"/>
          </p:cNvSpPr>
          <p:nvPr/>
        </p:nvSpPr>
        <p:spPr>
          <a:xfrm xmlns:a="http://schemas.openxmlformats.org/drawingml/2006/main">
            <a:off x="609600" y="2133600"/>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CEEF9B"/>
                </a:solidFill>
                <a:latin typeface="Arial"/>
                <a:ea typeface="Arial"/>
                <a:cs typeface="Arial"/>
              </a:defRPr>
            </a:pPr>
            <a:r>
              <a:rPr sz="2400" b="1">
                <a:solidFill>
                  <a:srgbClr val="CEEF9B"/>
                </a:solidFill>
                <a:latin typeface="Arial"/>
                <a:ea typeface="Arial"/>
                <a:cs typeface="Arial"/>
              </a:rPr>
              <a:t>Available locally</a:t>
            </a:r>
          </a:p>
        </p:txBody>
      </p:sp>
      <p:sp>
        <p:nvSpPr>
          <p:cNvPr id="6" name="text-156">
            <a:extLst xmlns:a="http://schemas.openxmlformats.org/drawingml/2006/main">
              <a:ext uri="{FF2B5EF4-FFF2-40B4-BE49-F238E27FC236}">
                <a16:creationId xmlns:a16="http://schemas.microsoft.com/office/drawing/2014/main" id="{895ABC1B-A943-44AE-A6D8-56A800350846}"/>
              </a:ext>
            </a:extLst>
          </p:cNvPr>
          <p:cNvSpPr>
            <a:spLocks xmlns:a="http://schemas.openxmlformats.org/drawingml/2006/main" noGrp="1"/>
          </p:cNvSpPr>
          <p:nvPr/>
        </p:nvSpPr>
        <p:spPr>
          <a:xfrm xmlns:a="http://schemas.openxmlformats.org/drawingml/2006/main">
            <a:off x="609600" y="3000375"/>
            <a:ext cx="515302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Accounts and shared ride data</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Search, offers and reservations</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Fare splitting and cancellations</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Recurring rides and admin tools</a:t>
            </a:r>
          </a:p>
        </p:txBody>
      </p:sp>
      <p:sp>
        <p:nvSpPr>
          <p:cNvPr id="7" name="text-157">
            <a:extLst xmlns:a="http://schemas.openxmlformats.org/drawingml/2006/main">
              <a:ext uri="{FF2B5EF4-FFF2-40B4-BE49-F238E27FC236}">
                <a16:creationId xmlns:a16="http://schemas.microsoft.com/office/drawing/2014/main" id="{1E58F60D-4DC8-4A73-ABA7-8B4E356FB8E3}"/>
              </a:ext>
            </a:extLst>
          </p:cNvPr>
          <p:cNvSpPr>
            <a:spLocks xmlns:a="http://schemas.openxmlformats.org/drawingml/2006/main" noGrp="1"/>
          </p:cNvSpPr>
          <p:nvPr/>
        </p:nvSpPr>
        <p:spPr>
          <a:xfrm xmlns:a="http://schemas.openxmlformats.org/drawingml/2006/main">
            <a:off x="6638925" y="21336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CEEF9B"/>
                </a:solidFill>
                <a:latin typeface="Arial"/>
                <a:ea typeface="Arial"/>
                <a:cs typeface="Arial"/>
              </a:defRPr>
            </a:pPr>
            <a:r>
              <a:rPr sz="2400" b="1">
                <a:solidFill>
                  <a:srgbClr val="CEEF9B"/>
                </a:solidFill>
                <a:latin typeface="Arial"/>
                <a:ea typeface="Arial"/>
                <a:cs typeface="Arial"/>
              </a:rPr>
              <a:t>Future integrations</a:t>
            </a:r>
          </a:p>
        </p:txBody>
      </p:sp>
      <p:sp>
        <p:nvSpPr>
          <p:cNvPr id="8" name="text-158">
            <a:extLst xmlns:a="http://schemas.openxmlformats.org/drawingml/2006/main">
              <a:ext uri="{FF2B5EF4-FFF2-40B4-BE49-F238E27FC236}">
                <a16:creationId xmlns:a16="http://schemas.microsoft.com/office/drawing/2014/main" id="{CE8334F0-73C9-4875-A83A-CAF70E88D070}"/>
              </a:ext>
            </a:extLst>
          </p:cNvPr>
          <p:cNvSpPr>
            <a:spLocks xmlns:a="http://schemas.openxmlformats.org/drawingml/2006/main" noGrp="1"/>
          </p:cNvSpPr>
          <p:nvPr/>
        </p:nvSpPr>
        <p:spPr>
          <a:xfrm xmlns:a="http://schemas.openxmlformats.org/drawingml/2006/main">
            <a:off x="6638925" y="3000375"/>
            <a:ext cx="49911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Real email delivery after sender setup</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Road maps and address suggestions</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Payment integration if required</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 campus pilot to measure benefits</a:t>
            </a:r>
          </a:p>
        </p:txBody>
      </p:sp>
      <p:sp>
        <p:nvSpPr>
          <p:cNvPr id="9" name="text-159">
            <a:extLst xmlns:a="http://schemas.openxmlformats.org/drawingml/2006/main">
              <a:ext uri="{FF2B5EF4-FFF2-40B4-BE49-F238E27FC236}">
                <a16:creationId xmlns:a16="http://schemas.microsoft.com/office/drawing/2014/main" id="{0B250873-6C9F-466D-A318-B78E05A4711C}"/>
              </a:ext>
            </a:extLst>
          </p:cNvPr>
          <p:cNvSpPr>
            <a:spLocks xmlns:a="http://schemas.openxmlformats.org/drawingml/2006/main" noGrp="1"/>
          </p:cNvSpPr>
          <p:nvPr/>
        </p:nvSpPr>
        <p:spPr>
          <a:xfrm xmlns:a="http://schemas.openxmlformats.org/drawingml/2006/main">
            <a:off x="609600" y="5581650"/>
            <a:ext cx="10953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BAD1C1"/>
                </a:solidFill>
                <a:latin typeface="Arial"/>
                <a:ea typeface="Arial"/>
                <a:cs typeface="Arial"/>
              </a:defRPr>
            </a:pPr>
            <a:r>
              <a:rPr sz="2100" b="0">
                <a:solidFill>
                  <a:srgbClr val="BAD1C1"/>
                </a:solidFill>
                <a:latin typeface="Arial"/>
                <a:ea typeface="Arial"/>
                <a:cs typeface="Arial"/>
              </a:rPr>
              <a:t>ShareCommute brings campus ride coordination and transparent cost sharing into one website.</a:t>
            </a:r>
          </a:p>
        </p:txBody>
      </p:sp>
    </p:spTree>
    <p:extLst>
      <p:ext uri="{BB962C8B-B14F-4D97-AF65-F5344CB8AC3E}">
        <p14:creationId xmlns:p14="http://schemas.microsoft.com/office/powerpoint/2010/main" val="2363543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2026-10-08T07:14:02.7610000Z</dcterms:created>
  <dcterms:modified xsi:type="dcterms:W3CDTF">2026-10-08T07:14:02.7610000Z</dcterms:modified>
</coreProperties>
</file>